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3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LANDSCAPE · MEDIA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217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MEDIA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 2026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‘What Should I Eat?’ to ‘I’ll Buy CURRYiT’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2C3A5C"/>
          </a:solidFill>
          <a:ln w="12700">
            <a:solidFill>
              <a:srgbClr val="2C3A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6393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352044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INTENT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14016" y="3776472"/>
            <a:ext cx="237744" cy="0"/>
          </a:xfrm>
          <a:prstGeom prst="line">
            <a:avLst/>
          </a:prstGeom>
          <a:noFill/>
          <a:ln w="15875">
            <a:solidFill>
              <a:srgbClr val="EE762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97480" y="3520440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2C3A5C"/>
          </a:solidFill>
          <a:ln w="12700">
            <a:solidFill>
              <a:srgbClr val="2C3A5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363931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72968" y="352044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SURFACE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62856" y="3776472"/>
            <a:ext cx="237744" cy="0"/>
          </a:xfrm>
          <a:prstGeom prst="line">
            <a:avLst/>
          </a:prstGeom>
          <a:noFill/>
          <a:ln w="15875">
            <a:solidFill>
              <a:srgbClr val="EE762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846320" y="3520440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14" name="Image 2" descr="/tmp/claude-0/-home-user-Office-Work/08b30093-98bd-5eca-b3fd-e3e89be0deab/scratchpad/img/logo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66160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9824" y="352044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38912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evidence  ·  Blinkit — search: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mutton curry paste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30352" y="4663440"/>
            <a:ext cx="5279946" cy="1819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8" name="Image 3" descr="/tmp/claude-0/-home-user-Office-Work/08b30093-98bd-5eca-b3fd-e3e89be0deab/scratchpad/img/th_mutt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81728"/>
            <a:ext cx="5243370" cy="17830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086600" y="822960"/>
            <a:ext cx="4617720" cy="544068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4" descr="/tmp/claude-0/-home-user-Office-Work/08b30093-98bd-5eca-b3fd-e3e89be0deab/scratchpad/img/logo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502920"/>
            <a:ext cx="1005840" cy="1005840"/>
          </a:xfrm>
          <a:prstGeom prst="rect">
            <a:avLst/>
          </a:prstGeom>
        </p:spPr>
      </p:pic>
      <p:pic>
        <p:nvPicPr>
          <p:cNvPr id="21" name="Image 5" descr="/tmp/claude-0/-home-user-Office-Work/08b30093-98bd-5eca-b3fd-e3e89be0deab/scratchpad/img/pack_roganjo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535" y="1645920"/>
            <a:ext cx="2009010" cy="1965960"/>
          </a:xfrm>
          <a:prstGeom prst="rect">
            <a:avLst/>
          </a:prstGeom>
        </p:spPr>
      </p:pic>
      <p:pic>
        <p:nvPicPr>
          <p:cNvPr id="22" name="Image 6" descr="/tmp/claude-0/-home-user-Office-Work/08b30093-98bd-5eca-b3fd-e3e89be0deab/scratchpad/img/pack_chettin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5024" y="1645920"/>
            <a:ext cx="1973135" cy="1965960"/>
          </a:xfrm>
          <a:prstGeom prst="rect">
            <a:avLst/>
          </a:prstGeom>
        </p:spPr>
      </p:pic>
      <p:pic>
        <p:nvPicPr>
          <p:cNvPr id="23" name="Image 7" descr="/tmp/claude-0/-home-user-Office-Work/08b30093-98bd-5eca-b3fd-e3e89be0deab/scratchpad/img/pack_xacut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3753772"/>
            <a:ext cx="2011680" cy="1919919"/>
          </a:xfrm>
          <a:prstGeom prst="rect">
            <a:avLst/>
          </a:prstGeom>
        </p:spPr>
      </p:pic>
      <p:pic>
        <p:nvPicPr>
          <p:cNvPr id="24" name="Image 8" descr="/tmp/claude-0/-home-user-Office-Work/08b30093-98bd-5eca-b3fd-e3e89be0deab/scratchpad/img/pack_butt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5752" y="3763772"/>
            <a:ext cx="2011680" cy="189992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269480" y="58978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packs as captured in the Amazon research screenshots</a:t>
            </a:r>
            <a:endParaRPr lang="en-US" sz="850" dirty="0"/>
          </a:p>
        </p:txBody>
      </p:sp>
      <p:sp>
        <p:nvSpPr>
          <p:cNvPr id="26" name="Text 15"/>
          <p:cNvSpPr txBox="1"/>
          <p:nvPr/>
        </p:nvSpPr>
        <p:spPr>
          <a:xfrm>
            <a:off x="548640" y="65196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EB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only from: CurryIT Reserch.docx · CURRYiT_Media_Overview.xlsx · CURRYiT 2026 Surface Blueprint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CONSUMER MEDIA ECOSYSTEM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CONSUMER MOVES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&amp; DECIDE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BUY, RETURN &amp; RECOMMEND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05256" y="148132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645920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2104" y="14264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DISCOVERY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· YouTube Shorts · Facebook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673352" y="1810512"/>
            <a:ext cx="1042416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43784" y="148132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645920"/>
            <a:ext cx="329184" cy="3291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70632" y="14264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70632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2258568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 NEED SEARCH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2258568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11880" y="1810512"/>
            <a:ext cx="1042416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782312" y="148132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645920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709160" y="14264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709160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4197096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/ DISH SEARCH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197096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· Google · recipe publishers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550408" y="1810512"/>
            <a:ext cx="1042416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720840" y="148132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645920"/>
            <a:ext cx="329184" cy="32918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647688" y="14264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647688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6135624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ANSWER ENGINES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6135624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Mode · Gemini · ChatGPT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488936" y="1810512"/>
            <a:ext cx="1042416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8659368" y="148132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645920"/>
            <a:ext cx="329184" cy="32918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8586216" y="14264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586216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8" name="Text 31"/>
          <p:cNvSpPr txBox="1"/>
          <p:nvPr/>
        </p:nvSpPr>
        <p:spPr>
          <a:xfrm>
            <a:off x="8074152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/ COMMUNITY</a:t>
            </a:r>
            <a:endParaRPr lang="en-US" sz="950" dirty="0"/>
          </a:p>
        </p:txBody>
      </p:sp>
      <p:sp>
        <p:nvSpPr>
          <p:cNvPr id="39" name="Text 32"/>
          <p:cNvSpPr txBox="1"/>
          <p:nvPr/>
        </p:nvSpPr>
        <p:spPr>
          <a:xfrm>
            <a:off x="8074152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· Quora · reviews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9427464" y="1810512"/>
            <a:ext cx="1042416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10597896" y="1481328"/>
            <a:ext cx="658368" cy="65836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488" y="1645920"/>
            <a:ext cx="329184" cy="329184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0524744" y="142646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0524744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5" name="Text 37"/>
          <p:cNvSpPr txBox="1"/>
          <p:nvPr/>
        </p:nvSpPr>
        <p:spPr>
          <a:xfrm>
            <a:off x="10012680" y="2203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COMPARISON</a:t>
            </a:r>
            <a:endParaRPr lang="en-US" sz="950" dirty="0"/>
          </a:p>
        </p:txBody>
      </p:sp>
      <p:sp>
        <p:nvSpPr>
          <p:cNvPr id="46" name="Text 38"/>
          <p:cNvSpPr txBox="1"/>
          <p:nvPr/>
        </p:nvSpPr>
        <p:spPr>
          <a:xfrm>
            <a:off x="10012680" y="2569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1088136" y="3291840"/>
            <a:ext cx="658368" cy="65836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728" y="3456432"/>
            <a:ext cx="329184" cy="329184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1014984" y="32369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01498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50292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COMMERCE</a:t>
            </a:r>
            <a:endParaRPr lang="en-US" sz="950" dirty="0"/>
          </a:p>
        </p:txBody>
      </p:sp>
      <p:sp>
        <p:nvSpPr>
          <p:cNvPr id="52" name="Text 43"/>
          <p:cNvSpPr txBox="1"/>
          <p:nvPr/>
        </p:nvSpPr>
        <p:spPr>
          <a:xfrm>
            <a:off x="50292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· Zepto · Swiggy Instamart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1856232" y="3621024"/>
            <a:ext cx="1069848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3054096" y="3291840"/>
            <a:ext cx="658368" cy="65836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3456432"/>
            <a:ext cx="329184" cy="329184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2980944" y="32369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298094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8" name="Text 48"/>
          <p:cNvSpPr txBox="1"/>
          <p:nvPr/>
        </p:nvSpPr>
        <p:spPr>
          <a:xfrm>
            <a:off x="246888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CONVERSION</a:t>
            </a:r>
            <a:endParaRPr lang="en-US" sz="950" dirty="0"/>
          </a:p>
        </p:txBody>
      </p:sp>
      <p:sp>
        <p:nvSpPr>
          <p:cNvPr id="59" name="Text 49"/>
          <p:cNvSpPr txBox="1"/>
          <p:nvPr/>
        </p:nvSpPr>
        <p:spPr>
          <a:xfrm>
            <a:off x="246888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website (curryit.in)</a:t>
            </a:r>
            <a:endParaRPr lang="en-US" sz="850" dirty="0"/>
          </a:p>
        </p:txBody>
      </p:sp>
      <p:sp>
        <p:nvSpPr>
          <p:cNvPr id="60" name="Shape 50"/>
          <p:cNvSpPr/>
          <p:nvPr/>
        </p:nvSpPr>
        <p:spPr>
          <a:xfrm>
            <a:off x="3822192" y="3621024"/>
            <a:ext cx="1069848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61" name="Shape 51"/>
          <p:cNvSpPr/>
          <p:nvPr/>
        </p:nvSpPr>
        <p:spPr>
          <a:xfrm>
            <a:off x="5020056" y="3291840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4648" y="3456432"/>
            <a:ext cx="329184" cy="329184"/>
          </a:xfrm>
          <a:prstGeom prst="rect">
            <a:avLst/>
          </a:prstGeom>
        </p:spPr>
      </p:pic>
      <p:sp>
        <p:nvSpPr>
          <p:cNvPr id="63" name="Shape 52"/>
          <p:cNvSpPr/>
          <p:nvPr/>
        </p:nvSpPr>
        <p:spPr>
          <a:xfrm>
            <a:off x="4946904" y="32369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494690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5" name="Text 54"/>
          <p:cNvSpPr txBox="1"/>
          <p:nvPr/>
        </p:nvSpPr>
        <p:spPr>
          <a:xfrm>
            <a:off x="443484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DISCOVERY</a:t>
            </a:r>
            <a:endParaRPr lang="en-US" sz="950" dirty="0"/>
          </a:p>
        </p:txBody>
      </p:sp>
      <p:sp>
        <p:nvSpPr>
          <p:cNvPr id="66" name="Text 55"/>
          <p:cNvSpPr txBox="1"/>
          <p:nvPr/>
        </p:nvSpPr>
        <p:spPr>
          <a:xfrm>
            <a:off x="443484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· modern trade · sampling</a:t>
            </a:r>
            <a:endParaRPr lang="en-US" sz="850" dirty="0"/>
          </a:p>
        </p:txBody>
      </p:sp>
      <p:sp>
        <p:nvSpPr>
          <p:cNvPr id="67" name="Shape 56"/>
          <p:cNvSpPr/>
          <p:nvPr/>
        </p:nvSpPr>
        <p:spPr>
          <a:xfrm>
            <a:off x="5788152" y="3621024"/>
            <a:ext cx="1069848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68" name="Shape 57"/>
          <p:cNvSpPr/>
          <p:nvPr/>
        </p:nvSpPr>
        <p:spPr>
          <a:xfrm>
            <a:off x="6986016" y="3291840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0608" y="3456432"/>
            <a:ext cx="329184" cy="329184"/>
          </a:xfrm>
          <a:prstGeom prst="rect">
            <a:avLst/>
          </a:prstGeom>
        </p:spPr>
      </p:pic>
      <p:sp>
        <p:nvSpPr>
          <p:cNvPr id="70" name="Shape 58"/>
          <p:cNvSpPr/>
          <p:nvPr/>
        </p:nvSpPr>
        <p:spPr>
          <a:xfrm>
            <a:off x="6912864" y="32369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691286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60"/>
          <p:cNvSpPr txBox="1"/>
          <p:nvPr/>
        </p:nvSpPr>
        <p:spPr>
          <a:xfrm>
            <a:off x="640080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REPEAT</a:t>
            </a:r>
            <a:endParaRPr lang="en-US" sz="950" dirty="0"/>
          </a:p>
        </p:txBody>
      </p:sp>
      <p:sp>
        <p:nvSpPr>
          <p:cNvPr id="73" name="Text 61"/>
          <p:cNvSpPr txBox="1"/>
          <p:nvPr/>
        </p:nvSpPr>
        <p:spPr>
          <a:xfrm>
            <a:off x="640080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email · retargeting</a:t>
            </a:r>
            <a:endParaRPr lang="en-US" sz="850" dirty="0"/>
          </a:p>
        </p:txBody>
      </p:sp>
      <p:sp>
        <p:nvSpPr>
          <p:cNvPr id="74" name="Shape 62"/>
          <p:cNvSpPr/>
          <p:nvPr/>
        </p:nvSpPr>
        <p:spPr>
          <a:xfrm>
            <a:off x="7754112" y="3621024"/>
            <a:ext cx="1069848" cy="0"/>
          </a:xfrm>
          <a:prstGeom prst="line">
            <a:avLst/>
          </a:prstGeom>
          <a:noFill/>
          <a:ln w="15875">
            <a:solidFill>
              <a:srgbClr val="D9DCE1"/>
            </a:solidFill>
            <a:prstDash val="solid"/>
            <a:tailEnd type="triangle"/>
          </a:ln>
        </p:spPr>
      </p:sp>
      <p:sp>
        <p:nvSpPr>
          <p:cNvPr id="75" name="Shape 63"/>
          <p:cNvSpPr/>
          <p:nvPr/>
        </p:nvSpPr>
        <p:spPr>
          <a:xfrm>
            <a:off x="8951976" y="3291840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6568" y="3456432"/>
            <a:ext cx="329184" cy="329184"/>
          </a:xfrm>
          <a:prstGeom prst="rect">
            <a:avLst/>
          </a:prstGeom>
        </p:spPr>
      </p:pic>
      <p:sp>
        <p:nvSpPr>
          <p:cNvPr id="77" name="Shape 64"/>
          <p:cNvSpPr/>
          <p:nvPr/>
        </p:nvSpPr>
        <p:spPr>
          <a:xfrm>
            <a:off x="8878824" y="323697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887882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79" name="Text 66"/>
          <p:cNvSpPr txBox="1"/>
          <p:nvPr/>
        </p:nvSpPr>
        <p:spPr>
          <a:xfrm>
            <a:off x="836676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ADVOCACY</a:t>
            </a:r>
            <a:endParaRPr lang="en-US" sz="950" dirty="0"/>
          </a:p>
        </p:txBody>
      </p:sp>
      <p:sp>
        <p:nvSpPr>
          <p:cNvPr id="80" name="Text 67"/>
          <p:cNvSpPr txBox="1"/>
          <p:nvPr/>
        </p:nvSpPr>
        <p:spPr>
          <a:xfrm>
            <a:off x="8366760" y="4379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· referrals · UGC</a:t>
            </a:r>
            <a:endParaRPr lang="en-US" sz="850" dirty="0"/>
          </a:p>
        </p:txBody>
      </p:sp>
      <p:sp>
        <p:nvSpPr>
          <p:cNvPr id="81" name="Shape 68"/>
          <p:cNvSpPr/>
          <p:nvPr/>
        </p:nvSpPr>
        <p:spPr>
          <a:xfrm>
            <a:off x="457200" y="4800600"/>
            <a:ext cx="7223760" cy="1554480"/>
          </a:xfrm>
          <a:prstGeom prst="roundRect">
            <a:avLst>
              <a:gd name="adj" fmla="val 5882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82" name="Text 69"/>
          <p:cNvSpPr txBox="1"/>
          <p:nvPr/>
        </p:nvSpPr>
        <p:spPr>
          <a:xfrm>
            <a:off x="731520" y="495604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950" dirty="0"/>
          </a:p>
        </p:txBody>
      </p:sp>
      <p:sp>
        <p:nvSpPr>
          <p:cNvPr id="83" name="Text 70"/>
          <p:cNvSpPr txBox="1"/>
          <p:nvPr/>
        </p:nvSpPr>
        <p:spPr>
          <a:xfrm>
            <a:off x="731520" y="5230368"/>
            <a:ext cx="6720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should be present wherever the consumer moves from </a:t>
            </a:r>
            <a:pPr indent="0" marL="0">
              <a:buNone/>
            </a:pPr>
            <a:r>
              <a:rPr lang="en-US" sz="17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‘What should I eat?’</a:t>
            </a:r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indent="0" marL="0">
              <a:buNone/>
            </a:pPr>
            <a:r>
              <a:rPr lang="en-US" sz="17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‘I’ll buy CURRYiT’</a:t>
            </a:r>
            <a:pPr indent="0" marL="0">
              <a:buNone/>
            </a:pPr>
            <a:r>
              <a:rPr lang="en-US" sz="17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then bring them back again.</a:t>
            </a:r>
            <a:endParaRPr lang="en-US" sz="1700" dirty="0"/>
          </a:p>
        </p:txBody>
      </p:sp>
      <p:sp>
        <p:nvSpPr>
          <p:cNvPr id="84" name="Shape 71"/>
          <p:cNvSpPr/>
          <p:nvPr/>
        </p:nvSpPr>
        <p:spPr>
          <a:xfrm>
            <a:off x="7982712" y="4645152"/>
            <a:ext cx="2926603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85" name="Image 11" descr="/tmp/claude-0/-home-user-Office-Work/08b30093-98bd-5eca-b3fd-e3e89be0deab/scratchpad/img/bp_ecosyste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4663440"/>
            <a:ext cx="2890027" cy="1572768"/>
          </a:xfrm>
          <a:prstGeom prst="rect">
            <a:avLst/>
          </a:prstGeom>
        </p:spPr>
      </p:pic>
      <p:sp>
        <p:nvSpPr>
          <p:cNvPr id="86" name="Text 72"/>
          <p:cNvSpPr txBox="1"/>
          <p:nvPr/>
        </p:nvSpPr>
        <p:spPr>
          <a:xfrm>
            <a:off x="8001000" y="627278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ecosystem map — CURRYiT 2026 Surface Blueprint</a:t>
            </a:r>
            <a:endParaRPr lang="en-US" sz="800" dirty="0"/>
          </a:p>
        </p:txBody>
      </p:sp>
      <p:sp>
        <p:nvSpPr>
          <p:cNvPr id="87" name="Text 73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8" name="Text 74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MOMENTS 1 + 2 · GOOGLE / AI SEARCH · YOUTUBE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SEARCH: SOLVE MY DINNER → SHOW ME HOW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PROBLEM / NEED SEARCH — “SOLVE MY DINNER”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45352" y="114300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82512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RECIPE / DISH SEARCH — “SHOW ME HOW”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</a:t>
            </a:r>
            <a:pPr indent="0" marL="0">
              <a:buNone/>
            </a:pPr>
            <a:r>
              <a:rPr lang="en-US" sz="9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Indian dinner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4155" y="1874520"/>
            <a:ext cx="1949211" cy="1819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0" name="Image 0" descr="/tmp/claude-0/-home-user-Office-Work/08b30093-98bd-5eca-b3fd-e3e89be0deab/scratchpad/img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43" y="1892808"/>
            <a:ext cx="1912635" cy="1783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697480" y="15727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— search: </a:t>
            </a:r>
            <a:pPr indent="0" marL="0">
              <a:buNone/>
            </a:pPr>
            <a:r>
              <a:rPr lang="en-US" sz="9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dinner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12877" y="1874520"/>
            <a:ext cx="3215326" cy="1819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3" name="Image 1" descr="/tmp/claude-0/-home-user-Office-Work/08b30093-98bd-5eca-b3fd-e3e89be0deab/scratchpad/img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165" y="1892808"/>
            <a:ext cx="3178750" cy="1783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7200" y="3749040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37490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NOT VISIBLE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697480" y="3749040"/>
            <a:ext cx="3246120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697480" y="37490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NOT VISIBLE — ready-to-eat packs lead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6245352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— search: </a:t>
            </a:r>
            <a:pPr indent="0" marL="0">
              <a:buNone/>
            </a:pPr>
            <a:r>
              <a:rPr lang="en-US" sz="9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indian dinner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27064" y="1874520"/>
            <a:ext cx="3328416" cy="18190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0" name="Image 2" descr="/tmp/claude-0/-home-user-Office-Work/08b30093-98bd-5eca-b3fd-e3e89be0deab/scratchpad/img/image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92808"/>
            <a:ext cx="3291840" cy="178249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45352" y="3749040"/>
            <a:ext cx="3145536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245352" y="3749040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NOT VISIBLE — creators own the results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9646920" y="1892808"/>
            <a:ext cx="2084832" cy="2075688"/>
          </a:xfrm>
          <a:prstGeom prst="roundRect">
            <a:avLst>
              <a:gd name="adj" fmla="val 3524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784080" y="2011680"/>
            <a:ext cx="384048" cy="38404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092" y="2107692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78408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PRINCIPLE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9784080" y="269748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DISH FIRST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CURRYiT MAKES IT EASY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535424"/>
            <a:ext cx="1737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Tired after work; searching for a dinner solution, not a brand.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· Google AI search · search-led discovery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Captured: “quick Indian dinner” (Google), “15-minute dinner” (Blinkit).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233172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2331720" y="4535424"/>
            <a:ext cx="1737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publishers. Captured Google results: simplyfamilyrecipes.com, justlovecooking.com.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Overview names Swasthi’s Recipes &amp; Hebbar’s Kitchen as established quick-dinner publishers.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4206240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4206240" y="4535424"/>
            <a:ext cx="1737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Problem-led SEO + Search Ads while organic builds.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action: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“quick dinner” intent pages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content to relevant SKUs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FAQs / structured, GEO-ready content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linking → topical authority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245352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6245352" y="4535424"/>
            <a:ext cx="1737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the dish; wants an easier way to make it.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· Google · recipe publishers · searchable Shorts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 intents from brief: Butter Chicken, Paneer Butter Masala, Chettinad Chicken, Biryani, Rogan Josh.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8119872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8119872" y="4535424"/>
            <a:ext cx="1737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creators. Captured Shorts show 3.1M–60M views; Chef Sanjeev Kapoor Khazana long-form ranks below.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Overview: Hebbar’s Kitchen quick-dinner video ~3M views vs far smaller reach for CURRYiT’s product-led video.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9994392" y="4114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9994392" y="4535424"/>
            <a:ext cx="17373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SEO · YouTube SEO · Shorts · creator collabs · dish landing pages · 3-step demos.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action: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search-optimised asset per high-intent dish (title, description, chapters, link to SKU).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MOMENTS 3 + 4 · SOCIAL · AI / ANSWER ENGINES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DISCOVERY: MAKE ME HUNGRY → ANSWER MY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DISCOVERY — “MAKE ME HUNGRY”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45352" y="114300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82512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ANSWER ENGINE — “ANSWER MY QUESTION”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581912"/>
            <a:ext cx="1118456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9" name="Image 0" descr="/tmp/claude-0/-home-user-Office-Work/08b30093-98bd-5eca-b3fd-e3e89be0deab/scratchpad/img/bp_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081880" cy="2057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Surface Blueprint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15727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01952" y="1837944"/>
            <a:ext cx="4059936" cy="1103341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3" name="Image 1" descr="/tmp/claude-0/-home-user-Office-Work/08b30093-98bd-5eca-b3fd-e3e89be0deab/scratchpad/img/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856232"/>
            <a:ext cx="4023360" cy="106676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901952" y="2971800"/>
            <a:ext cx="2127746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5" name="Image 2" descr="/tmp/claude-0/-home-user-Office-Work/08b30093-98bd-5eca-b3fd-e3e89be0deab/scratchpad/img/image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990088"/>
            <a:ext cx="2091170" cy="914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60520" y="299008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curryit.in: 52K followers, 1,025 posts. A second account (justcurryit, 9 followers) also appears.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6245352" y="1572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Kadai Masala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227064" y="1837944"/>
            <a:ext cx="3785616" cy="1157661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9" name="Image 3" descr="/tmp/claude-0/-home-user-Office-Work/08b30093-98bd-5eca-b3fd-e3e89be0deab/scratchpad/img/imag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56232"/>
            <a:ext cx="3749040" cy="112108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0131552" y="1600200"/>
            <a:ext cx="1600200" cy="1389888"/>
          </a:xfrm>
          <a:prstGeom prst="roundRect">
            <a:avLst>
              <a:gd name="adj" fmla="val 5263"/>
            </a:avLst>
          </a:prstGeom>
          <a:solidFill>
            <a:srgbClr val="E8EBF2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222992" y="1673352"/>
            <a:ext cx="1444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product data already surfaces: price range, in stock, 4.8★ (445), free delivery.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6428232" y="315468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326898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58584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909560" y="3383280"/>
            <a:ext cx="301752" cy="0"/>
          </a:xfrm>
          <a:prstGeom prst="line">
            <a:avLst/>
          </a:prstGeom>
          <a:noFill/>
          <a:ln w="15875">
            <a:solidFill>
              <a:srgbClr val="EE7623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8257032" y="315468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32689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787384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9738360" y="3383280"/>
            <a:ext cx="301752" cy="0"/>
          </a:xfrm>
          <a:prstGeom prst="line">
            <a:avLst/>
          </a:prstGeom>
          <a:noFill/>
          <a:ln w="15875">
            <a:solidFill>
              <a:srgbClr val="EE7623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10085832" y="3154680"/>
            <a:ext cx="457200" cy="45720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0132" y="326898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616184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6245352" y="36758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CURRYiT easy for answer engines to understand, trust and reference.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4489704"/>
            <a:ext cx="1737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Casually scrolling after work, not searching: “That looks good. I could make that tonight.”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Reels · Facebook · YouTube Shorts · food/lifestyle creators</a:t>
            </a:r>
            <a:endParaRPr lang="en-US" sz="950" dirty="0"/>
          </a:p>
        </p:txBody>
      </p:sp>
      <p:sp>
        <p:nvSpPr>
          <p:cNvPr id="36" name="Text 27"/>
          <p:cNvSpPr txBox="1"/>
          <p:nvPr/>
        </p:nvSpPr>
        <p:spPr>
          <a:xfrm>
            <a:off x="233172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2331720" y="4489704"/>
            <a:ext cx="1737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&amp; lifestyle creators, UGC and short-form cooking content.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(Media Overview): Cookd built a 1M+ home-cook community on YouTube/Instagram before its product business.</a:t>
            </a:r>
            <a:endParaRPr 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420624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4206240" y="4489704"/>
            <a:ext cx="1737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seeding · UGC · Reels/Shorts · Meta amplification of organic winners · retargeting.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Hooks: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“POV: You reach home at 8:30 PM” · “What I cooked after work” · “Dinner in 15 minutes” · “3 steps from packet to plate”</a:t>
            </a:r>
            <a:endParaRPr lang="en-US" sz="950" dirty="0"/>
          </a:p>
        </p:txBody>
      </p:sp>
      <p:sp>
        <p:nvSpPr>
          <p:cNvPr id="40" name="Text 31"/>
          <p:cNvSpPr txBox="1"/>
          <p:nvPr/>
        </p:nvSpPr>
        <p:spPr>
          <a:xfrm>
            <a:off x="6245352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6245352" y="4489704"/>
            <a:ext cx="1737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full questions, e.g. “What can I cook with paneer in 20 minutes?”, “Which curry paste is preservative-free?”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Mode / AI Overviews · Gemini · ChatGPT</a:t>
            </a:r>
            <a:endParaRPr lang="en-US" sz="950" dirty="0"/>
          </a:p>
        </p:txBody>
      </p:sp>
      <p:sp>
        <p:nvSpPr>
          <p:cNvPr id="42" name="Text 33"/>
          <p:cNvSpPr txBox="1"/>
          <p:nvPr/>
        </p:nvSpPr>
        <p:spPr>
          <a:xfrm>
            <a:off x="8119872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8119872" y="4489704"/>
            <a:ext cx="1737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winner. Trusted, structured, well-supported sources are best placed.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reports AI Mode queries are 2–3× longer than traditional searches (Media Overview).</a:t>
            </a:r>
            <a:endParaRPr lang="en-US" sz="950" dirty="0"/>
          </a:p>
        </p:txBody>
      </p:sp>
      <p:sp>
        <p:nvSpPr>
          <p:cNvPr id="44" name="Text 35"/>
          <p:cNvSpPr txBox="1"/>
          <p:nvPr/>
        </p:nvSpPr>
        <p:spPr>
          <a:xfrm>
            <a:off x="9994392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9994392" y="4489704"/>
            <a:ext cx="17373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/ AEO: FAQs, ingredient &amp; recipe pages, serving + prep info, process &amp; shelf-life explanation, structured data, credible external mentions.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eligibility; does not guarantee AI inclusion.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47" name="Text 38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 5 · REDDIT · QUORA · GOOGLE · REVIEWS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TRUST: PROVE IT TO 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eat curry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1453896"/>
            <a:ext cx="5797296" cy="2029397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6" name="Image 0" descr="/tmp/claude-0/-home-user-Office-Work/08b30093-98bd-5eca-b3fd-e3e89be0deab/scratchpad/img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2184"/>
            <a:ext cx="5760720" cy="19928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584448"/>
            <a:ext cx="3840480" cy="219456"/>
          </a:xfrm>
          <a:prstGeom prst="roundRect">
            <a:avLst>
              <a:gd name="adj" fmla="val 20833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35844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VISIBLE — CURRYiT at 8th position (research)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587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CURRYiT’s own trust message is what surfaces: “super-hygienic kitchens (and not factories)… Chief Quality Officers (our moms &amp; grannies)”.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38912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TRUST CONVERSATION HAPPENS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75945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1600200" y="464515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47594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Quora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2560320" y="464515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620" y="475945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28600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520440" y="464515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475945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24612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4480560" y="464515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759452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20624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comments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5440680" y="464515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4980" y="4759452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516636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457200" y="5486400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E8EBF2"/>
          </a:solidFill>
          <a:ln w="12700">
            <a:solidFill>
              <a:srgbClr val="E8EBF2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594360" y="555955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evidence (Media Overview): </a:t>
            </a:r>
            <a:pPr indent="0" marL="0"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recommend MTR, ITC, Haldiram’s, Cookd and CURRYiT depending on the use case; CURRYiT already gets organic mentions for biryani, chhole, Kosha Mangsho and butter masala.</a:t>
            </a:r>
            <a:endParaRPr 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6629400" y="1188720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6629400" y="1444752"/>
            <a:ext cx="51023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CURRYiT actually good?”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curry pastes taste packaged?”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can CURRYiT last so long without preservatives?”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worth the money?”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· Quora · Google · reviews · social comments · communities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6629400" y="2971800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6629400" y="3227832"/>
            <a:ext cx="51023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consumer experiences and credible peer conversations — not advertisers. Surface Blueprint: trusted community discussions and transparent manufacturing proof win over marketing claims.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629400" y="4023360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6629400" y="4279392"/>
            <a:ext cx="5102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listening · earned advocacy · genuine reviews · transparent factual answers · FAQ development · ingredient/process education · reputation monitoring.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action: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relevant questions → identify recurring objections → improve FAQs → publish factual shelf-life/process answers → encourage genuine reviews → earn credible third-party mentions.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629400" y="5897880"/>
            <a:ext cx="5102352" cy="457200"/>
          </a:xfrm>
          <a:prstGeom prst="roundRect">
            <a:avLst>
              <a:gd name="adj" fmla="val 16000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6766560" y="589788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manipulate Reddit or Quora — treat them as listening posts, not ad channels.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 6 · AMAZON = MEDIA + COMMERCE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MARKETPLACE: LET ME COMPARE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84048" cy="38404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266444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1704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is both a search/ad surface and the checkout.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947672"/>
            <a:ext cx="3794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curry paste, ready-to-cook curry, butter masala, biryani paste, wet masala.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price, ratings, reviews, serving size, prep time, ingredients, images, offers, brand credibility.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Captured: “curry masala”, “regional Indian curry”.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1546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10712"/>
            <a:ext cx="37947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universal winner. Sponsored slots lead: Cheffin (plus Tulua on “curry masala”; SHIP on “regional Indian curry”).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appears organically right after: Chettinad 4.0★ (248), Rogan Josh 4.0★ (213).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5262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82312"/>
            <a:ext cx="3794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SEO · Sponsored Products/Brands on hero SKUs · A+ Content · first image stating 15 mins / what to add / serves · ratings · coupons · regional flavour.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action: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Title/bullets/search terms → hero-SKU ads → lift CTR &amp; conversion → legitimate reviews → test high-intent sponsored keywords.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11704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masala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07992" y="1435608"/>
            <a:ext cx="3493008" cy="176146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5" name="Image 1" descr="/tmp/claude-0/-home-user-Office-Work/08b30093-98bd-5eca-b3fd-e3e89be0deab/scratchpad/img/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53896"/>
            <a:ext cx="3456432" cy="172488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275320" y="11704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masala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304868" y="1435608"/>
            <a:ext cx="339733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8" name="Image 2" descr="/tmp/claude-0/-home-user-Office-Work/08b30093-98bd-5eca-b3fd-e3e89be0deab/scratchpad/img/image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56" y="1453896"/>
            <a:ext cx="3360760" cy="186537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526280" y="3383280"/>
            <a:ext cx="345643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26280" y="338328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FIRST: Cheffin ×4, Tulua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8275320" y="3383280"/>
            <a:ext cx="3456432" cy="219456"/>
          </a:xfrm>
          <a:prstGeom prst="roundRect">
            <a:avLst>
              <a:gd name="adj" fmla="val 20833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75320" y="338328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ORGANIC right after sponsored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8010144" y="2450592"/>
            <a:ext cx="237744" cy="0"/>
          </a:xfrm>
          <a:prstGeom prst="line">
            <a:avLst/>
          </a:prstGeom>
          <a:noFill/>
          <a:ln w="15875">
            <a:solidFill>
              <a:srgbClr val="EE7623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4526280" y="384962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Indian curry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586823" y="4114800"/>
            <a:ext cx="3335346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6" name="Image 3" descr="/tmp/claude-0/-home-user-Office-Work/08b30093-98bd-5eca-b3fd-e3e89be0deab/scratchpad/img/image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111" y="4133088"/>
            <a:ext cx="3298770" cy="186537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275320" y="384962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Indian curry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8257032" y="4114800"/>
            <a:ext cx="3493008" cy="172989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9" name="Image 4" descr="/tmp/claude-0/-home-user-Office-Work/08b30093-98bd-5eca-b3fd-e3e89be0deab/scratchpad/img/image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133088"/>
            <a:ext cx="3456432" cy="169331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526280" y="6062472"/>
            <a:ext cx="345643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526280" y="606247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FIRST: Cheffin, SHIP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8275320" y="6062472"/>
            <a:ext cx="3456432" cy="219456"/>
          </a:xfrm>
          <a:prstGeom prst="roundRect">
            <a:avLst>
              <a:gd name="adj" fmla="val 20833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275320" y="606247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ORGANIC: Chettinad + Rogan Josh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8010144" y="5129784"/>
            <a:ext cx="237744" cy="0"/>
          </a:xfrm>
          <a:prstGeom prst="line">
            <a:avLst/>
          </a:prstGeom>
          <a:noFill/>
          <a:ln w="15875">
            <a:solidFill>
              <a:srgbClr val="EE7623"/>
            </a:solidFill>
            <a:prstDash val="solid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 7 · BLINKIT + ZEPTO + SWIGGY INSTAMART = ONE SURFACE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QUICK COMMERCE: LET ME BUY IT NOW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mutton curry paste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1408176"/>
            <a:ext cx="5772912" cy="26791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6" name="Image 0" descr="/tmp/claude-0/-home-user-Office-Work/08b30093-98bd-5eca-b3fd-e3e89be0deab/scratchpad/img/image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6464"/>
            <a:ext cx="5736336" cy="2642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114800"/>
            <a:ext cx="5760720" cy="219456"/>
          </a:xfrm>
          <a:prstGeom prst="roundRect">
            <a:avLst>
              <a:gd name="adj" fmla="val 20833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1148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— CURRYiT first two results + “Curryit mutton curry paste” autosuggest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1430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Instamart — search: </a:t>
            </a:r>
            <a:pPr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mutton curry paste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73952" y="1408176"/>
            <a:ext cx="2946089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1" name="Image 1" descr="/tmp/claude-0/-home-user-Office-Work/08b30093-98bd-5eca-b3fd-e3e89be0deab/scratchpad/img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26464"/>
            <a:ext cx="2909513" cy="12252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92240" y="2715768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92240" y="2715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— CURRYiT 1st, “Bestseller”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9646920" y="1143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Indian dinner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9628632" y="1444752"/>
            <a:ext cx="2121408" cy="1163203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6" name="Image 2" descr="/tmp/claude-0/-home-user-Office-Work/08b30093-98bd-5eca-b3fd-e3e89be0deab/scratchpad/img/image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463040"/>
            <a:ext cx="2084832" cy="1126627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646920" y="2715768"/>
            <a:ext cx="2084832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646920" y="271576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1089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SHOPPER COMPARES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92240" y="3364992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492240" y="336499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position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7543800" y="3364992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543800" y="336499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position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8595360" y="3364992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595360" y="336499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9646920" y="3364992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646920" y="336499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10698480" y="3364992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698480" y="336499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6492240" y="365760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92240" y="36576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7543800" y="365760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543800" y="36576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95360" y="365760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8595360" y="36576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imagery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9646920" y="365760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646920" y="36576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 claims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10698480" y="3657600"/>
            <a:ext cx="987552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698480" y="36576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SKUs</a:t>
            </a:r>
            <a:endParaRPr lang="en-US" sz="75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45262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457200" y="4782312"/>
            <a:ext cx="3611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Dinner needs solving now. Captured: “mutton curry paste” on Blinkit and Swiggy Instamart.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· Zepto · Swiggy Instamart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Zepto screenshot in the research set.</a:t>
            </a:r>
            <a:endParaRPr lang="en-US" sz="950" dirty="0"/>
          </a:p>
        </p:txBody>
      </p:sp>
      <p:sp>
        <p:nvSpPr>
          <p:cNvPr id="42" name="Text 37"/>
          <p:cNvSpPr txBox="1"/>
          <p:nvPr/>
        </p:nvSpPr>
        <p:spPr>
          <a:xfrm>
            <a:off x="4270248" y="45262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4270248" y="4782312"/>
            <a:ext cx="3611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winner declared. For this query CURRYiT leads organically; an Ad (FineSpice) sits beside it on Instamart.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tier as captured: CURRYiT ₹139–140 vs Everest ₹49, Suhana ₹42–53, Zoff ₹78. Media Overview: CURRYiT &amp; Cheffin share the ₹130–150 wet-paste tier.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8083296" y="45262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8083296" y="4782312"/>
            <a:ext cx="36118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media · sponsored search · category placement · hero SKU · pack thumbnails · ratings · promotions · stock · city-level assortment · 5–9 PM dinner-time visibility.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 ranking: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relevance → category mapping → in-stock → ratings → first image → sponsored search on broad dinner terms.</a:t>
            </a:r>
            <a:endParaRPr lang="en-US" sz="950" dirty="0"/>
          </a:p>
        </p:txBody>
      </p:sp>
      <p:sp>
        <p:nvSpPr>
          <p:cNvPr id="46" name="Text 41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47" name="Text 42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MOMENTS 8 + 9 · CURRYiT.IN · RETAIL &amp;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CONVINCE ME FULLY → LET ME EXPERIENCE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— CURRYiT.IN · “CONVINCE ME FULLY”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45352" y="1143000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82512" y="11430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— RETAIL &amp; SAMPLING · “LET ME EXPERIENCE IT”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581912"/>
            <a:ext cx="1808002" cy="241401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9" name="Image 0" descr="/tmp/claude-0/-home-user-Office-Work/08b30093-98bd-5eca-b3fd-e3e89be0deab/scratchpad/img/bp_d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771426" cy="23774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D2C concept — Surface Blueprint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1600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423160" y="1856232"/>
            <a:ext cx="35204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am I buying?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need to add?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 Will it taste good?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no-preservative claim believable?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flavour should I buy?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1546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SURFACE?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3410712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CURRYiT. Strongest assets (Media Overview): sourcing explanation, process, 20+ checks, shelf-life explanation, bookable kitchen visits.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3891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645152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 · product selector · what-you-add · serving size &amp; cost per serving · bundles · ingredient/process proof · FAQs · reviews · email/WhatsApp capture · retargeting.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525780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5321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ORGANIC VISIBILITY IS WEAK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55961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Search-intent landing pages → recipe/category authority → internal linking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46120" y="5257800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55848" y="53218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TRAFFIC EXISTS, CONVERSION IS WEAK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355848" y="55961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Product-page clarity → trust proof → prep &amp; serving info → finished-food imagery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45352" y="1600200"/>
            <a:ext cx="2788920" cy="2423160"/>
          </a:xfrm>
          <a:prstGeom prst="roundRect">
            <a:avLst>
              <a:gd name="adj" fmla="val 30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24" name="Image 1" descr="/tmp/claude-0/-home-user-Office-Work/08b30093-98bd-5eca-b3fd-e3e89be0deab/scratchpad/img/pack_bu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691640"/>
            <a:ext cx="987552" cy="932688"/>
          </a:xfrm>
          <a:prstGeom prst="rect">
            <a:avLst/>
          </a:prstGeom>
        </p:spPr>
      </p:pic>
      <p:pic>
        <p:nvPicPr>
          <p:cNvPr id="25" name="Image 2" descr="/tmp/claude-0/-home-user-Office-Work/08b30093-98bd-5eca-b3fd-e3e89be0deab/scratchpad/img/pack_chettin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134" y="1691640"/>
            <a:ext cx="936092" cy="932688"/>
          </a:xfrm>
          <a:prstGeom prst="rect">
            <a:avLst/>
          </a:prstGeom>
        </p:spPr>
      </p:pic>
      <p:pic>
        <p:nvPicPr>
          <p:cNvPr id="26" name="Image 3" descr="/tmp/claude-0/-home-user-Office-Work/08b30093-98bd-5eca-b3fd-e3e89be0deab/scratchpad/img/pack_roganjo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032" y="2788920"/>
            <a:ext cx="953112" cy="932688"/>
          </a:xfrm>
          <a:prstGeom prst="rect">
            <a:avLst/>
          </a:prstGeom>
        </p:spPr>
      </p:pic>
      <p:pic>
        <p:nvPicPr>
          <p:cNvPr id="27" name="Image 4" descr="/tmp/claude-0/-home-user-Office-Work/08b30093-98bd-5eca-b3fd-e3e89be0deab/scratchpad/img/pack_xacut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548" y="2788920"/>
            <a:ext cx="977265" cy="93268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336792" y="2651760"/>
            <a:ext cx="2606040" cy="64008"/>
          </a:xfrm>
          <a:prstGeom prst="rect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36792" y="3749040"/>
            <a:ext cx="2606040" cy="64008"/>
          </a:xfrm>
          <a:prstGeom prst="rect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245352" y="40507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/ sampling concept using real CURRYiT packs from research screenshots</a:t>
            </a:r>
            <a:endParaRPr lang="en-US" sz="750" dirty="0"/>
          </a:p>
        </p:txBody>
      </p:sp>
      <p:sp>
        <p:nvSpPr>
          <p:cNvPr id="31" name="Text 24"/>
          <p:cNvSpPr txBox="1"/>
          <p:nvPr/>
        </p:nvSpPr>
        <p:spPr>
          <a:xfrm>
            <a:off x="9171432" y="1600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171432" y="202082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Supermarket · modern trade · sampling · live demo · retail display · food exhibition.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9171432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171432" y="2999232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Availability-led benchmarks (Media Overview): MTR wins through presence wherever consumers shop; Cookd reports 2,000+ stores in Tamil Nadu.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245352" y="43891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245352" y="4645152"/>
            <a:ext cx="5486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· sampling · 3-step demos · end caps · shelf visibility · POS · QR recipe demos · regional displays.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245352" y="52578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28232" y="5513832"/>
            <a:ext cx="640080" cy="64008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5673852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251192" y="53492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BARRIER</a:t>
            </a:r>
            <a:endParaRPr lang="en-US" sz="850" dirty="0"/>
          </a:p>
        </p:txBody>
      </p:sp>
      <p:sp>
        <p:nvSpPr>
          <p:cNvPr id="41" name="Text 33"/>
          <p:cNvSpPr txBox="1"/>
          <p:nvPr/>
        </p:nvSpPr>
        <p:spPr>
          <a:xfrm>
            <a:off x="7251192" y="5577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“Will it actually taste good?”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7251192" y="5989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good sample can resolve the taste objection faster than multiple digital ads.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44" name="Text 36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MOMENT 10 · WHATSAPP · EMAIL · CRM · RETARGETING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BRING ME BACK → MAKE ME RECOMMEND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44752" y="1828800"/>
            <a:ext cx="3145536" cy="3145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E7623"/>
            </a:solidFill>
            <a:prstDash val="dash"/>
          </a:ln>
        </p:spPr>
      </p:sp>
      <p:pic>
        <p:nvPicPr>
          <p:cNvPr id="5" name="Image 0" descr="/tmp/claude-0/-home-user-Office-Work/08b30093-98bd-5eca-b3fd-e3e89be0deab/scratchpad/img/logo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898648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688336" y="1499616"/>
            <a:ext cx="658368" cy="658368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66420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14600" y="12252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PURCHASE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050393" y="2286000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985" y="245059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63625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WHATSAPP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050393" y="385876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985" y="4023360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763625" y="4069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RECIPE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2688336" y="4645152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4809744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514600" y="5340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REORDER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1326279" y="3858768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871" y="4023360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265575" y="4069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REVIEW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1326279" y="2286000"/>
            <a:ext cx="658368" cy="658368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871" y="2450592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65575" y="2496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REFERRAL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548640" y="5943600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548640" y="5943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→ REPEAT → HABIT → ADVOCACY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6199632" y="1170432"/>
            <a:ext cx="1634873" cy="2093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7" name="Image 7" descr="/tmp/claude-0/-home-user-Office-Work/08b30093-98bd-5eca-b3fd-e3e89be0deab/scratchpad/img/bp_whatsap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1188720"/>
            <a:ext cx="1598297" cy="20574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217920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Surface Blueprint</a:t>
            </a:r>
            <a:endParaRPr lang="en-US" sz="750" dirty="0"/>
          </a:p>
        </p:txBody>
      </p:sp>
      <p:sp>
        <p:nvSpPr>
          <p:cNvPr id="29" name="Shape 19"/>
          <p:cNvSpPr/>
          <p:nvPr/>
        </p:nvSpPr>
        <p:spPr>
          <a:xfrm>
            <a:off x="8092440" y="1234440"/>
            <a:ext cx="3337560" cy="566928"/>
          </a:xfrm>
          <a:prstGeom prst="roundRect">
            <a:avLst>
              <a:gd name="adj" fmla="val 19355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8229600" y="1234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tried Butter Masala — try Chettinad next.”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8412480" y="1947672"/>
            <a:ext cx="3337560" cy="566928"/>
          </a:xfrm>
          <a:prstGeom prst="roundRect">
            <a:avLst>
              <a:gd name="adj" fmla="val 193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8549640" y="19476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are we cooking this weekend?”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8092440" y="2660904"/>
            <a:ext cx="3337560" cy="566928"/>
          </a:xfrm>
          <a:prstGeom prst="roundRect">
            <a:avLst>
              <a:gd name="adj" fmla="val 193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8229600" y="26609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“Explore another region of India.”</a:t>
            </a:r>
            <a:endParaRPr lang="en-US" sz="1050" dirty="0"/>
          </a:p>
        </p:txBody>
      </p:sp>
      <p:sp>
        <p:nvSpPr>
          <p:cNvPr id="35" name="Text 25"/>
          <p:cNvSpPr txBox="1"/>
          <p:nvPr/>
        </p:nvSpPr>
        <p:spPr>
          <a:xfrm>
            <a:off x="6217920" y="36118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CONSUMER DOING AND WHERE?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6217920" y="4032504"/>
            <a:ext cx="17556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already bought. May forget to reorder, want another flavour, need a dinner idea, replenish, buy a bundle or recommend.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email · Meta retargeting · website · CRM</a:t>
            </a:r>
            <a:endParaRPr lang="en-US" sz="950" dirty="0"/>
          </a:p>
        </p:txBody>
      </p:sp>
      <p:sp>
        <p:nvSpPr>
          <p:cNvPr id="37" name="Text 27"/>
          <p:cNvSpPr txBox="1"/>
          <p:nvPr/>
        </p:nvSpPr>
        <p:spPr>
          <a:xfrm>
            <a:off x="8092440" y="36118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WINNING THE SURFACE TODAY?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8092440" y="4032504"/>
            <a:ext cx="17556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verifiable single RTC brand winner. Advantage comes from first-party data, personalisation and easy reorder journeys.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Meta/RAI 2026 retail study: 72% product discovery reported on WhatsApp (Media Overview).</a:t>
            </a:r>
            <a:endParaRPr lang="en-US" sz="950" dirty="0"/>
          </a:p>
        </p:txBody>
      </p:sp>
      <p:sp>
        <p:nvSpPr>
          <p:cNvPr id="39" name="Text 29"/>
          <p:cNvSpPr txBox="1"/>
          <p:nvPr/>
        </p:nvSpPr>
        <p:spPr>
          <a:xfrm>
            <a:off x="9966960" y="36118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CURRYiT'S LEVER HERE?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9966960" y="4032504"/>
            <a:ext cx="175564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CRM · email · reorder &amp; replenishment reminders · cross-sell · personalised recipes · cart recovery · bundles · new-flavour launches · review &amp; referral asks.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conventional ranking — visibility = staying in the repeat loop.</a:t>
            </a:r>
            <a:endParaRPr lang="en-US" sz="950" dirty="0"/>
          </a:p>
        </p:txBody>
      </p:sp>
      <p:sp>
        <p:nvSpPr>
          <p:cNvPr id="41" name="Text 31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42" name="Text 32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· ACTUAL RESEARCH SCREENSHOTS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WHERE CURRYiT IS VISIBLE — AND WHERE IT IS NOT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458200" y="25603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58200" y="256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 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555480" y="25603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55480" y="2560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 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652760" y="256032"/>
            <a:ext cx="1078992" cy="237744"/>
          </a:xfrm>
          <a:prstGeom prst="roundRect">
            <a:avLst>
              <a:gd name="adj" fmla="val 1923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52760" y="25603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 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188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444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Kadai Masala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" y="1801368"/>
            <a:ext cx="2139696" cy="665477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4" name="Image 0" descr="/tmp/claude-0/-home-user-Office-Work/08b30093-98bd-5eca-b3fd-e3e89be0deab/scratchpad/img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9656"/>
            <a:ext cx="2103120" cy="62890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32735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product page ranks (7th in research) with 4.8★ (445) rich result.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0" y="1188720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43200" y="1188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1444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mutton curry paste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24912" y="1801368"/>
            <a:ext cx="2139696" cy="100544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0" name="Image 1" descr="/tmp/claude-0/-home-user-Office-Work/08b30093-98bd-5eca-b3fd-e3e89be0deab/scratchpad/img/imag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19656"/>
            <a:ext cx="2103120" cy="96886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743200" y="32735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holds the first two organic tiles.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029200" y="1188720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029200" y="1188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5029200" y="1444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Instamart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mutton curry paste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010912" y="1801368"/>
            <a:ext cx="2139696" cy="922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6" name="Image 2" descr="/tmp/claude-0/-home-user-Office-Work/08b30093-98bd-5eca-b3fd-e3e89be0deab/scratchpad/img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19656"/>
            <a:ext cx="2103120" cy="88569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29200" y="32735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Chettinad first, tagged Bestseller.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315200" y="1188720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315200" y="1188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7315200" y="1444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7296912" y="1801368"/>
            <a:ext cx="2139696" cy="594203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32" name="Image 3" descr="/tmp/claude-0/-home-user-Office-Work/08b30093-98bd-5eca-b3fd-e3e89be0deab/scratchpad/img/imag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19656"/>
            <a:ext cx="2103120" cy="55762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315200" y="32735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accounts: curryit.in (52K) and justcurryit (9 followers).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9601200" y="1188720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601200" y="1188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VISIBLE</a:t>
            </a:r>
            <a:endParaRPr lang="en-US" sz="800" dirty="0"/>
          </a:p>
        </p:txBody>
      </p:sp>
      <p:sp>
        <p:nvSpPr>
          <p:cNvPr id="36" name="Text 30"/>
          <p:cNvSpPr txBox="1"/>
          <p:nvPr/>
        </p:nvSpPr>
        <p:spPr>
          <a:xfrm>
            <a:off x="9601200" y="1444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eat curry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9582912" y="1801368"/>
            <a:ext cx="2139696" cy="7641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38" name="Image 4" descr="/tmp/claude-0/-home-user-Office-Work/08b30093-98bd-5eca-b3fd-e3e89be0deab/scratchpad/img/image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819656"/>
            <a:ext cx="2103120" cy="72753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601200" y="32735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at 8th position, below MTR content.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457200" y="3867912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457200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VISIBLE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457200" y="4123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masala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438912" y="4480560"/>
            <a:ext cx="2139696" cy="12039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44" name="Image 5" descr="/tmp/claude-0/-home-user-Office-Work/08b30093-98bd-5eca-b3fd-e3e89be0deab/scratchpad/img/image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498848"/>
            <a:ext cx="2103120" cy="1167328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457200" y="5952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only after Cheffin/Tulua sponsored row.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2743200" y="3867912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2743200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VISIBLE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2743200" y="4123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Indian curry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2724912" y="4480560"/>
            <a:ext cx="2139696" cy="1066899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50" name="Image 6" descr="/tmp/claude-0/-home-user-Office-Work/08b30093-98bd-5eca-b3fd-e3e89be0deab/scratchpad/img/image1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4498848"/>
            <a:ext cx="2103120" cy="1030323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2743200" y="5952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Chettinad + Rogan Josh organic after sponsored ads.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5029200" y="3867912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5029200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 / GAP</a:t>
            </a:r>
            <a:endParaRPr lang="en-US" sz="800" dirty="0"/>
          </a:p>
        </p:txBody>
      </p:sp>
      <p:sp>
        <p:nvSpPr>
          <p:cNvPr id="54" name="Text 45"/>
          <p:cNvSpPr txBox="1"/>
          <p:nvPr/>
        </p:nvSpPr>
        <p:spPr>
          <a:xfrm>
            <a:off x="5029200" y="4123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dinner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5010912" y="4480560"/>
            <a:ext cx="2139696" cy="1216295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56" name="Image 7" descr="/tmp/claude-0/-home-user-Office-Work/08b30093-98bd-5eca-b3fd-e3e89be0deab/scratchpad/img/image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4498848"/>
            <a:ext cx="2103120" cy="1179719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5029200" y="5952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visible; ready-to-eat brands fill results.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7315200" y="3867912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7315200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 / GAP</a:t>
            </a:r>
            <a:endParaRPr lang="en-US" sz="800" dirty="0"/>
          </a:p>
        </p:txBody>
      </p:sp>
      <p:sp>
        <p:nvSpPr>
          <p:cNvPr id="60" name="Text 50"/>
          <p:cNvSpPr txBox="1"/>
          <p:nvPr/>
        </p:nvSpPr>
        <p:spPr>
          <a:xfrm>
            <a:off x="7315200" y="4123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Indian dinner</a:t>
            </a:r>
            <a:endParaRPr lang="en-US" sz="850" dirty="0"/>
          </a:p>
        </p:txBody>
      </p:sp>
      <p:sp>
        <p:nvSpPr>
          <p:cNvPr id="61" name="Shape 51"/>
          <p:cNvSpPr/>
          <p:nvPr/>
        </p:nvSpPr>
        <p:spPr>
          <a:xfrm>
            <a:off x="7593227" y="4480560"/>
            <a:ext cx="1547067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62" name="Image 8" descr="/tmp/claude-0/-home-user-Office-Work/08b30093-98bd-5eca-b3fd-e3e89be0deab/scratchpad/img/image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1515" y="4498848"/>
            <a:ext cx="1510491" cy="1408176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7315200" y="5952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visible; also absent in captured Amazon, Blinkit &amp; YouTube results.</a:t>
            </a:r>
            <a:endParaRPr lang="en-US" sz="850" dirty="0"/>
          </a:p>
        </p:txBody>
      </p:sp>
      <p:sp>
        <p:nvSpPr>
          <p:cNvPr id="64" name="Shape 53"/>
          <p:cNvSpPr/>
          <p:nvPr/>
        </p:nvSpPr>
        <p:spPr>
          <a:xfrm>
            <a:off x="9601200" y="3867912"/>
            <a:ext cx="2103120" cy="219456"/>
          </a:xfrm>
          <a:prstGeom prst="roundRect">
            <a:avLst>
              <a:gd name="adj" fmla="val 208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9601200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 / GAP</a:t>
            </a:r>
            <a:endParaRPr lang="en-US" sz="800" dirty="0"/>
          </a:p>
        </p:txBody>
      </p:sp>
      <p:sp>
        <p:nvSpPr>
          <p:cNvPr id="66" name="Text 55"/>
          <p:cNvSpPr txBox="1"/>
          <p:nvPr/>
        </p:nvSpPr>
        <p:spPr>
          <a:xfrm>
            <a:off x="9601200" y="4123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BigBasket — search: </a:t>
            </a:r>
            <a:pPr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</a:t>
            </a:r>
            <a:endParaRPr lang="en-US" sz="850" dirty="0"/>
          </a:p>
        </p:txBody>
      </p:sp>
      <p:sp>
        <p:nvSpPr>
          <p:cNvPr id="67" name="Shape 56"/>
          <p:cNvSpPr/>
          <p:nvPr/>
        </p:nvSpPr>
        <p:spPr>
          <a:xfrm>
            <a:off x="9582912" y="4480560"/>
            <a:ext cx="2139696" cy="623843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68" name="Image 9" descr="/tmp/claude-0/-home-user-Office-Work/08b30093-98bd-5eca-b3fd-e3e89be0deab/scratchpad/img/image1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4498848"/>
            <a:ext cx="2103120" cy="587267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9601200" y="59527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results found for curryit” — not listed.</a:t>
            </a:r>
            <a:endParaRPr lang="en-US" sz="850" dirty="0"/>
          </a:p>
        </p:txBody>
      </p:sp>
      <p:sp>
        <p:nvSpPr>
          <p:cNvPr id="70" name="Text 58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CurryIT Reserch.docx — platform labels follow the visible screenshot UI; positions only where stated in the research.</a:t>
            </a:r>
            <a:endParaRPr lang="en-US" sz="800" dirty="0"/>
          </a:p>
        </p:txBody>
      </p:sp>
      <p:sp>
        <p:nvSpPr>
          <p:cNvPr id="71" name="Text 59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WHAT THE MARKET IS TELLING CURRYiT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139696" cy="3429000"/>
          </a:xfrm>
          <a:prstGeom prst="roundRect">
            <a:avLst>
              <a:gd name="adj" fmla="val 34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298448"/>
            <a:ext cx="365760" cy="36576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7373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cannot optimise only for branded searches.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254203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to capture the problem before consumers know the brand.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32735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— search: quick Indian dinner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5185" y="3483864"/>
            <a:ext cx="1823727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1" name="Image 0" descr="/tmp/claude-0/-home-user-Office-Work/08b30093-98bd-5eca-b3fd-e3e89be0deab/scratchpad/img/th_quick_goo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73" y="3502152"/>
            <a:ext cx="1787151" cy="9875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34056" y="1170432"/>
            <a:ext cx="2139696" cy="3429000"/>
          </a:xfrm>
          <a:prstGeom prst="roundRect">
            <a:avLst>
              <a:gd name="adj" fmla="val 34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62072" y="1298448"/>
            <a:ext cx="365760" cy="36576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62072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862072" y="17373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content is both discovery AND commerce infrastructure.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862072" y="254203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turn dish searches into demand.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2862072" y="32735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— search: quick indian dinner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843784" y="3558690"/>
            <a:ext cx="1920240" cy="8744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19" name="Image 1" descr="/tmp/claude-0/-home-user-Office-Work/08b30093-98bd-5eca-b3fd-e3e89be0deab/scratchpad/img/th_yout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3576978"/>
            <a:ext cx="1883664" cy="8379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10912" y="1170432"/>
            <a:ext cx="2139696" cy="3429000"/>
          </a:xfrm>
          <a:prstGeom prst="roundRect">
            <a:avLst>
              <a:gd name="adj" fmla="val 34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138928" y="1298448"/>
            <a:ext cx="365760" cy="36576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13892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5138928" y="17373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already has evidence of organic visibility in some high-intent searches.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138928" y="254203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to systematically expand that visibility.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138928" y="32735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— search: mutton curry paste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5120640" y="3657357"/>
            <a:ext cx="1920240" cy="677142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27" name="Image 2" descr="/tmp/claude-0/-home-user-Office-Work/08b30093-98bd-5eca-b3fd-e3e89be0deab/scratchpad/img/th_mutt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3675645"/>
            <a:ext cx="1883664" cy="64056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287768" y="1170432"/>
            <a:ext cx="2139696" cy="3429000"/>
          </a:xfrm>
          <a:prstGeom prst="roundRect">
            <a:avLst>
              <a:gd name="adj" fmla="val 34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15784" y="1298448"/>
            <a:ext cx="365760" cy="36576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415784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415784" y="17373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visibility is surface-specific.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7415784" y="254203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Amazon, Quick Commerce, YouTube and Instagram require different optimisation mechanisms.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434072" y="341071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372" y="3525012"/>
            <a:ext cx="228600" cy="2286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074152" y="3410712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52" y="3525012"/>
            <a:ext cx="228600" cy="22860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714232" y="3410712"/>
            <a:ext cx="457200" cy="45720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8532" y="3525012"/>
            <a:ext cx="228600" cy="22860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7434072" y="397764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8372" y="4091940"/>
            <a:ext cx="228600" cy="2286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8074152" y="3977640"/>
            <a:ext cx="457200" cy="45720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8452" y="4091940"/>
            <a:ext cx="228600" cy="2286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9564624" y="1170432"/>
            <a:ext cx="2139696" cy="3429000"/>
          </a:xfrm>
          <a:prstGeom prst="roundRect">
            <a:avLst>
              <a:gd name="adj" fmla="val 341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692640" y="1298448"/>
            <a:ext cx="365760" cy="36576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969264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36"/>
          <p:cNvSpPr txBox="1"/>
          <p:nvPr/>
        </p:nvSpPr>
        <p:spPr>
          <a:xfrm>
            <a:off x="9692640" y="17373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to connect the journey.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9692640" y="2542032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→ SEARCH → EDUCATION → TRUST → COMPARISON → PURCHASE → REPEAT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9692640" y="32735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packs (Amazon screenshot)</a:t>
            </a:r>
            <a:endParaRPr lang="en-US" sz="750" dirty="0"/>
          </a:p>
        </p:txBody>
      </p:sp>
      <p:sp>
        <p:nvSpPr>
          <p:cNvPr id="49" name="Shape 39"/>
          <p:cNvSpPr/>
          <p:nvPr/>
        </p:nvSpPr>
        <p:spPr>
          <a:xfrm>
            <a:off x="10129172" y="3483864"/>
            <a:ext cx="101060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  <a:prstDash val="solid"/>
          </a:ln>
        </p:spPr>
      </p:sp>
      <p:pic>
        <p:nvPicPr>
          <p:cNvPr id="50" name="Image 8" descr="/tmp/claude-0/-home-user-Office-Work/08b30093-98bd-5eca-b3fd-e3e89be0deab/scratchpad/img/pack_tri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460" y="3502152"/>
            <a:ext cx="974024" cy="98755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457200" y="48006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 JOURNEY CURRYiT NEEDS TO CONNECT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1083564" y="5349240"/>
            <a:ext cx="10021824" cy="0"/>
          </a:xfrm>
          <a:prstGeom prst="line">
            <a:avLst/>
          </a:prstGeom>
          <a:noFill/>
          <a:ln w="25400">
            <a:solidFill>
              <a:srgbClr val="D9DCE1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809244" y="5074920"/>
            <a:ext cx="548640" cy="54864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" y="5212080"/>
            <a:ext cx="274320" cy="27432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93776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DISCOVERY</a:t>
            </a:r>
            <a:endParaRPr lang="en-US" sz="850" dirty="0"/>
          </a:p>
        </p:txBody>
      </p:sp>
      <p:sp>
        <p:nvSpPr>
          <p:cNvPr id="56" name="Shape 44"/>
          <p:cNvSpPr/>
          <p:nvPr/>
        </p:nvSpPr>
        <p:spPr>
          <a:xfrm>
            <a:off x="2061972" y="5074920"/>
            <a:ext cx="548640" cy="54864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9132" y="5212080"/>
            <a:ext cx="274320" cy="27432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1746504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/ AI</a:t>
            </a:r>
            <a:endParaRPr lang="en-US" sz="850" dirty="0"/>
          </a:p>
        </p:txBody>
      </p:sp>
      <p:sp>
        <p:nvSpPr>
          <p:cNvPr id="59" name="Shape 46"/>
          <p:cNvSpPr/>
          <p:nvPr/>
        </p:nvSpPr>
        <p:spPr>
          <a:xfrm>
            <a:off x="3314700" y="5074920"/>
            <a:ext cx="548640" cy="54864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1860" y="5212080"/>
            <a:ext cx="274320" cy="274320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2999232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EDUCATION</a:t>
            </a:r>
            <a:endParaRPr lang="en-US" sz="850" dirty="0"/>
          </a:p>
        </p:txBody>
      </p:sp>
      <p:sp>
        <p:nvSpPr>
          <p:cNvPr id="62" name="Shape 48"/>
          <p:cNvSpPr/>
          <p:nvPr/>
        </p:nvSpPr>
        <p:spPr>
          <a:xfrm>
            <a:off x="4567428" y="5074920"/>
            <a:ext cx="548640" cy="54864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4588" y="5212080"/>
            <a:ext cx="274320" cy="274320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4251960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50" dirty="0"/>
          </a:p>
        </p:txBody>
      </p:sp>
      <p:sp>
        <p:nvSpPr>
          <p:cNvPr id="65" name="Shape 50"/>
          <p:cNvSpPr/>
          <p:nvPr/>
        </p:nvSpPr>
        <p:spPr>
          <a:xfrm>
            <a:off x="5820156" y="5074920"/>
            <a:ext cx="548640" cy="54864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7316" y="5212080"/>
            <a:ext cx="274320" cy="274320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5504688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COMPARISON</a:t>
            </a:r>
            <a:endParaRPr lang="en-US" sz="850" dirty="0"/>
          </a:p>
        </p:txBody>
      </p:sp>
      <p:sp>
        <p:nvSpPr>
          <p:cNvPr id="68" name="Shape 52"/>
          <p:cNvSpPr/>
          <p:nvPr/>
        </p:nvSpPr>
        <p:spPr>
          <a:xfrm>
            <a:off x="7072884" y="5074920"/>
            <a:ext cx="548640" cy="54864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0044" y="5212080"/>
            <a:ext cx="274320" cy="274320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6757416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QUICK-COMMERCE PURCHASE</a:t>
            </a:r>
            <a:endParaRPr lang="en-US" sz="850" dirty="0"/>
          </a:p>
        </p:txBody>
      </p:sp>
      <p:sp>
        <p:nvSpPr>
          <p:cNvPr id="71" name="Shape 54"/>
          <p:cNvSpPr/>
          <p:nvPr/>
        </p:nvSpPr>
        <p:spPr>
          <a:xfrm>
            <a:off x="8325612" y="5074920"/>
            <a:ext cx="548640" cy="548640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2772" y="5212080"/>
            <a:ext cx="274320" cy="274320"/>
          </a:xfrm>
          <a:prstGeom prst="rect">
            <a:avLst/>
          </a:prstGeom>
        </p:spPr>
      </p:pic>
      <p:sp>
        <p:nvSpPr>
          <p:cNvPr id="73" name="Text 55"/>
          <p:cNvSpPr txBox="1"/>
          <p:nvPr/>
        </p:nvSpPr>
        <p:spPr>
          <a:xfrm>
            <a:off x="8010144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D2C CONVERSION</a:t>
            </a:r>
            <a:endParaRPr lang="en-US" sz="850" dirty="0"/>
          </a:p>
        </p:txBody>
      </p:sp>
      <p:sp>
        <p:nvSpPr>
          <p:cNvPr id="74" name="Shape 56"/>
          <p:cNvSpPr/>
          <p:nvPr/>
        </p:nvSpPr>
        <p:spPr>
          <a:xfrm>
            <a:off x="9578340" y="5074920"/>
            <a:ext cx="548640" cy="54864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15500" y="5212080"/>
            <a:ext cx="274320" cy="27432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9262872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REPEAT</a:t>
            </a:r>
            <a:endParaRPr lang="en-US" sz="850" dirty="0"/>
          </a:p>
        </p:txBody>
      </p:sp>
      <p:sp>
        <p:nvSpPr>
          <p:cNvPr id="77" name="Shape 58"/>
          <p:cNvSpPr/>
          <p:nvPr/>
        </p:nvSpPr>
        <p:spPr>
          <a:xfrm>
            <a:off x="10831068" y="5074920"/>
            <a:ext cx="548640" cy="548640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68228" y="5212080"/>
            <a:ext cx="274320" cy="274320"/>
          </a:xfrm>
          <a:prstGeom prst="rect">
            <a:avLst/>
          </a:prstGeom>
        </p:spPr>
      </p:pic>
      <p:sp>
        <p:nvSpPr>
          <p:cNvPr id="79" name="Text 59"/>
          <p:cNvSpPr txBox="1"/>
          <p:nvPr/>
        </p:nvSpPr>
        <p:spPr>
          <a:xfrm>
            <a:off x="10515600" y="5687568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ADVOCACY</a:t>
            </a:r>
            <a:endParaRPr lang="en-US" sz="850" dirty="0"/>
          </a:p>
        </p:txBody>
      </p:sp>
      <p:sp>
        <p:nvSpPr>
          <p:cNvPr id="80" name="Text 60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81" name="Text 61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WHAT CURRYiT SHOULD DO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" cy="512064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167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704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OWN NON-BRANDED SEARCH INTENT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444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content around dinner problems and dish searches.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865376"/>
            <a:ext cx="512064" cy="512064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933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84708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BUILD RECIPE-TO-COMMERCE CONTENT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21214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YouTube, Shorts, creators and SEO with CURRYiT products.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542032"/>
            <a:ext cx="512064" cy="512064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67004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5237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CLOSE SEARCH VISIBILITY GAPS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27980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queries where CURRYiT is absent or low-ranking.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218688"/>
            <a:ext cx="512064" cy="512064"/>
          </a:xfrm>
          <a:prstGeom prst="ellipse">
            <a:avLst/>
          </a:prstGeom>
          <a:solidFill>
            <a:srgbClr val="1B2640"/>
          </a:solidFill>
          <a:ln w="12700">
            <a:solidFill>
              <a:srgbClr val="1B264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4670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2004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STRENGTHEN HIGH-INTENT COMMERCE SURFACES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474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+ Quick Commerce: hero SKUs + retail media + search optimisation + ratings + availability.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895344"/>
            <a:ext cx="512064" cy="512064"/>
          </a:xfrm>
          <a:prstGeom prst="ellipse">
            <a:avLst/>
          </a:prstGeom>
          <a:solidFill>
            <a:srgbClr val="EE7623"/>
          </a:solidFill>
          <a:ln w="12700">
            <a:solidFill>
              <a:srgbClr val="EE762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02336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8770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TURN FIRST PURCHASE INTO A HABIT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41513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CRM + recipes + reorder + cross-sell + advocacy.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092440" y="1143000"/>
            <a:ext cx="3639312" cy="3337560"/>
          </a:xfrm>
          <a:prstGeom prst="roundRect">
            <a:avLst>
              <a:gd name="adj" fmla="val 274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25" name="Image 5" descr="/tmp/claude-0/-home-user-Office-Work/08b30093-98bd-5eca-b3fd-e3e89be0deab/scratchpad/img/pack_tr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179" y="1371600"/>
            <a:ext cx="1984123" cy="2011680"/>
          </a:xfrm>
          <a:prstGeom prst="rect">
            <a:avLst/>
          </a:prstGeom>
        </p:spPr>
      </p:pic>
      <p:pic>
        <p:nvPicPr>
          <p:cNvPr id="26" name="Image 6" descr="/tmp/claude-0/-home-user-Office-Work/08b30093-98bd-5eca-b3fd-e3e89be0deab/scratchpad/img/logo_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3456432"/>
            <a:ext cx="822960" cy="8229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57200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HUNGRY</a:t>
            </a:r>
            <a:endParaRPr lang="en-US" sz="750" dirty="0"/>
          </a:p>
        </p:txBody>
      </p:sp>
      <p:sp>
        <p:nvSpPr>
          <p:cNvPr id="28" name="Text 19"/>
          <p:cNvSpPr/>
          <p:nvPr/>
        </p:nvSpPr>
        <p:spPr>
          <a:xfrm>
            <a:off x="1709928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DINNER</a:t>
            </a:r>
            <a:endParaRPr lang="en-US" sz="750" dirty="0"/>
          </a:p>
        </p:txBody>
      </p:sp>
      <p:sp>
        <p:nvSpPr>
          <p:cNvPr id="29" name="Text 20"/>
          <p:cNvSpPr/>
          <p:nvPr/>
        </p:nvSpPr>
        <p:spPr>
          <a:xfrm>
            <a:off x="2962656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50" dirty="0"/>
          </a:p>
        </p:txBody>
      </p:sp>
      <p:sp>
        <p:nvSpPr>
          <p:cNvPr id="30" name="Text 21"/>
          <p:cNvSpPr/>
          <p:nvPr/>
        </p:nvSpPr>
        <p:spPr>
          <a:xfrm>
            <a:off x="4215384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 CAN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YOU</a:t>
            </a:r>
            <a:endParaRPr lang="en-US" sz="750" dirty="0"/>
          </a:p>
        </p:txBody>
      </p:sp>
      <p:sp>
        <p:nvSpPr>
          <p:cNvPr id="31" name="Text 22"/>
          <p:cNvSpPr/>
          <p:nvPr/>
        </p:nvSpPr>
        <p:spPr>
          <a:xfrm>
            <a:off x="5468112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750" dirty="0"/>
          </a:p>
        </p:txBody>
      </p:sp>
      <p:sp>
        <p:nvSpPr>
          <p:cNvPr id="32" name="Text 23"/>
          <p:cNvSpPr/>
          <p:nvPr/>
        </p:nvSpPr>
        <p:spPr>
          <a:xfrm>
            <a:off x="6720840" y="4709160"/>
            <a:ext cx="1298448" cy="685800"/>
          </a:xfrm>
          <a:prstGeom prst="chevron">
            <a:avLst/>
          </a:prstGeom>
          <a:solidFill>
            <a:srgbClr val="EE7623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NOW</a:t>
            </a:r>
            <a:endParaRPr lang="en-US" sz="750" dirty="0"/>
          </a:p>
        </p:txBody>
      </p:sp>
      <p:sp>
        <p:nvSpPr>
          <p:cNvPr id="33" name="Text 24"/>
          <p:cNvSpPr/>
          <p:nvPr/>
        </p:nvSpPr>
        <p:spPr>
          <a:xfrm>
            <a:off x="7973568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FULLY</a:t>
            </a:r>
            <a:endParaRPr lang="en-US" sz="750" dirty="0"/>
          </a:p>
        </p:txBody>
      </p:sp>
      <p:sp>
        <p:nvSpPr>
          <p:cNvPr id="34" name="Text 25"/>
          <p:cNvSpPr/>
          <p:nvPr/>
        </p:nvSpPr>
        <p:spPr>
          <a:xfrm>
            <a:off x="9226296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750" dirty="0"/>
          </a:p>
        </p:txBody>
      </p:sp>
      <p:sp>
        <p:nvSpPr>
          <p:cNvPr id="35" name="Text 26"/>
          <p:cNvSpPr/>
          <p:nvPr/>
        </p:nvSpPr>
        <p:spPr>
          <a:xfrm>
            <a:off x="10479024" y="4709160"/>
            <a:ext cx="1298448" cy="685800"/>
          </a:xfrm>
          <a:prstGeom prst="chevron">
            <a:avLst/>
          </a:prstGeom>
          <a:solidFill>
            <a:srgbClr val="1B2640"/>
          </a:solidFill>
          <a:ln w="12700">
            <a:solidFill>
              <a:srgbClr val="FFFFFF"/>
            </a:solidFill>
          </a:ln>
        </p:spPr>
        <p:txBody>
          <a:bodyPr wrap="square" lIns="0" tIns="152400" rIns="1270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ME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650" dirty="0"/>
          </a:p>
        </p:txBody>
      </p:sp>
      <p:sp>
        <p:nvSpPr>
          <p:cNvPr id="36" name="Shape 27"/>
          <p:cNvSpPr/>
          <p:nvPr/>
        </p:nvSpPr>
        <p:spPr>
          <a:xfrm>
            <a:off x="457200" y="5577840"/>
            <a:ext cx="11274552" cy="841248"/>
          </a:xfrm>
          <a:prstGeom prst="roundRect">
            <a:avLst>
              <a:gd name="adj" fmla="val 10870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685800" y="5577840"/>
            <a:ext cx="10835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CURRYiT should be present wherever the consumer moves from </a:t>
            </a:r>
            <a:pPr algn="ctr" indent="0" marL="0">
              <a:buNone/>
            </a:pPr>
            <a:r>
              <a:rPr lang="en-US" sz="16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‘What should I eat?’</a:t>
            </a:r>
            <a:pPr algn="ctr"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ctr" indent="0" marL="0">
              <a:buNone/>
            </a:pPr>
            <a:r>
              <a:rPr lang="en-US" sz="1600" b="1" dirty="0">
                <a:solidFill>
                  <a:srgbClr val="EE7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‘I’ll buy CURRYiT’</a:t>
            </a:r>
            <a:pPr algn="ctr" indent="0" marL="0">
              <a:buNone/>
            </a:pPr>
            <a:r>
              <a:rPr lang="en-US" sz="1600" b="1" dirty="0">
                <a:solidFill>
                  <a:srgbClr val="1B2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then bring them back again.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457200" y="651967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CurryIT Reserch.docx (screenshots) · CURRYiT_Media_Overview.xlsx · CURRYiT 2026 Surface Blueprint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10817352" y="6519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CURRYiT Media Landscape 2026</dc:title>
  <dc:subject>PptxGenJS Presentation</dc:subject>
  <dc:creator>PptxGenJS</dc:creator>
  <cp:lastModifiedBy>PptxGenJS</cp:lastModifiedBy>
  <cp:revision>1</cp:revision>
  <dcterms:created xsi:type="dcterms:W3CDTF">2026-09-25T15:33:20Z</dcterms:created>
  <dcterms:modified xsi:type="dcterms:W3CDTF">2026-09-25T15:33:20Z</dcterms:modified>
</cp:coreProperties>
</file>