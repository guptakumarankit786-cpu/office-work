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B264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B2640"/>
                </a:solidFill>
                <a:latin typeface="Arial"/>
              </a:rPr>
              <a:t>Sheet 1: summed avg. monthly searches by theme (themes can overlap)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Searches/mo</c:v>
                </c:pt>
              </c:strCache>
            </c:strRef>
          </c:tx>
          <c:spPr>
            <a:solidFill>
              <a:srgbClr val="1B26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E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Biryani</c:v>
                  </c:pt>
                  <c:pt idx="1">
                    <c:v>Curry paste terms</c:v>
                  </c:pt>
                  <c:pt idx="2">
                    <c:v>Chicken masala / gravy</c:v>
                  </c:pt>
                  <c:pt idx="3">
                    <c:v>Thai curries</c:v>
                  </c:pt>
                  <c:pt idx="4">
                    <c:v>Tikka</c:v>
                  </c:pt>
                  <c:pt idx="5">
                    <c:v>Butter chicken</c:v>
                  </c:pt>
                  <c:pt idx="6">
                    <c:v>Chettinad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50990</c:v>
                </c:pt>
                <c:pt idx="1">
                  <c:v>15330</c:v>
                </c:pt>
                <c:pt idx="2">
                  <c:v>6220</c:v>
                </c:pt>
                <c:pt idx="3">
                  <c:v>6150</c:v>
                </c:pt>
                <c:pt idx="4">
                  <c:v>3880</c:v>
                </c:pt>
                <c:pt idx="5">
                  <c:v>3400</c:v>
                </c:pt>
                <c:pt idx="6">
                  <c:v>540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E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B264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B2640"/>
                </a:solidFill>
                <a:latin typeface="Arial"/>
              </a:rPr>
              <a:t>Number of refined keywords by relevance class (n=90)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Keywords</c:v>
                </c:pt>
              </c:strCache>
            </c:strRef>
          </c:tx>
          <c:spPr>
            <a:solidFill>
              <a:srgbClr val="1B26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64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5A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E7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0B4B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 Highly relevant</c:v>
                  </c:pt>
                  <c:pt idx="1">
                    <c:v>B Relevant, broader</c:v>
                  </c:pt>
                  <c:pt idx="2">
                    <c:v>C Related / experimental</c:v>
                  </c:pt>
                  <c:pt idx="3">
                    <c:v>D Low relevance</c:v>
                  </c:pt>
                  <c:pt idx="4">
                    <c:v>E Irrelevant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11</c:v>
                </c:pt>
                <c:pt idx="2">
                  <c:v>20</c:v>
                </c:pt>
                <c:pt idx="3">
                  <c:v>30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B264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B2640"/>
                </a:solidFill>
                <a:latin typeface="Arial"/>
              </a:rPr>
              <a:t>De-duplicated avg. monthly searches by relevance class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Searches/mo (de-duplicated)</c:v>
                </c:pt>
              </c:strCache>
            </c:strRef>
          </c:tx>
          <c:spPr>
            <a:solidFill>
              <a:srgbClr val="1B26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64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5A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E7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0B4B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 Highly relevant</c:v>
                  </c:pt>
                  <c:pt idx="1">
                    <c:v>B Relevant, broader</c:v>
                  </c:pt>
                  <c:pt idx="2">
                    <c:v>C Related / experimental</c:v>
                  </c:pt>
                  <c:pt idx="3">
                    <c:v>D Low relevance</c:v>
                  </c:pt>
                  <c:pt idx="4">
                    <c:v>E Irrelevant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4520</c:v>
                </c:pt>
                <c:pt idx="1">
                  <c:v>4660</c:v>
                </c:pt>
                <c:pt idx="2">
                  <c:v>18940</c:v>
                </c:pt>
                <c:pt idx="3">
                  <c:v>33720</c:v>
                </c:pt>
                <c:pt idx="4">
                  <c:v>13650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B264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B2640"/>
                </a:solidFill>
                <a:latin typeface="Arial"/>
              </a:rPr>
              <a:t>De-duplicated avg. monthly searches per cluster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Searches/mo</c:v>
                </c:pt>
              </c:strCache>
            </c:strRef>
          </c:tx>
          <c:spPr>
            <a:solidFill>
              <a:srgbClr val="1B26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Butter chicken / tikka / tandoori</c:v>
                  </c:pt>
                  <c:pt idx="1">
                    <c:v>Thai curries</c:v>
                  </c:pt>
                  <c:pt idx="2">
                    <c:v>Brand</c:v>
                  </c:pt>
                  <c:pt idx="3">
                    <c:v>Other regional chicken masalas</c:v>
                  </c:pt>
                  <c:pt idx="4">
                    <c:v>Chicken curry / gravy masala</c:v>
                  </c:pt>
                  <c:pt idx="5">
                    <c:v>Chettinad intent</c:v>
                  </c:pt>
                  <c:pt idx="6">
                    <c:v>Korma</c:v>
                  </c:pt>
                  <c:pt idx="7">
                    <c:v>Other dishes</c:v>
                  </c:pt>
                  <c:pt idx="8">
                    <c:v>Curry paste / non-veg paste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38930</c:v>
                </c:pt>
                <c:pt idx="1">
                  <c:v>13470</c:v>
                </c:pt>
                <c:pt idx="2">
                  <c:v>5500</c:v>
                </c:pt>
                <c:pt idx="3">
                  <c:v>5260</c:v>
                </c:pt>
                <c:pt idx="4">
                  <c:v>5220</c:v>
                </c:pt>
                <c:pt idx="5">
                  <c:v>3000</c:v>
                </c:pt>
                <c:pt idx="6">
                  <c:v>1480</c:v>
                </c:pt>
                <c:pt idx="7">
                  <c:v>1410</c:v>
                </c:pt>
                <c:pt idx="8">
                  <c:v>1220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B2640"/>
                </a:solidFill>
                <a:latin typeface="Arial"/>
              </a:defRPr>
            </a:pPr>
            <a:r>
              <a:rPr sz="950" b="0" i="0" u="none" strike="noStrike">
                <a:solidFill>
                  <a:srgbClr val="1B2640"/>
                </a:solidFill>
                <a:latin typeface="Arial"/>
              </a:rPr>
              <a:t>Core (A) keywords: summed monthly searches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 keywords</c:v>
                </c:pt>
              </c:strCache>
            </c:strRef>
          </c:tx>
          <c:spPr>
            <a:solidFill>
              <a:srgbClr val="EE7623"/>
            </a:solidFill>
            <a:ln w="31750" cap="flat">
              <a:solidFill>
                <a:srgbClr val="EE7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E7623"/>
              </a:solidFill>
              <a:ln w="9525" cap="flat">
                <a:solidFill>
                  <a:srgbClr val="EE7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Sep 25</c:v>
                  </c:pt>
                  <c:pt idx="1">
                    <c:v>Oct</c:v>
                  </c:pt>
                  <c:pt idx="2">
                    <c:v>Nov</c:v>
                  </c:pt>
                  <c:pt idx="3">
                    <c:v>Dec</c:v>
                  </c:pt>
                  <c:pt idx="4">
                    <c:v>Jan 26</c:v>
                  </c:pt>
                  <c:pt idx="5">
                    <c:v>Feb</c:v>
                  </c:pt>
                  <c:pt idx="6">
                    <c:v>Mar</c:v>
                  </c:pt>
                  <c:pt idx="7">
                    <c:v>Apr</c:v>
                  </c:pt>
                  <c:pt idx="8">
                    <c:v>May</c:v>
                  </c:pt>
                  <c:pt idx="9">
                    <c:v>Jun</c:v>
                  </c:pt>
                  <c:pt idx="10">
                    <c:v>Jul</c:v>
                  </c:pt>
                  <c:pt idx="11">
                    <c:v>Aug 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2900</c:v>
                </c:pt>
                <c:pt idx="1">
                  <c:v>3020</c:v>
                </c:pt>
                <c:pt idx="2">
                  <c:v>3470</c:v>
                </c:pt>
                <c:pt idx="3">
                  <c:v>3100</c:v>
                </c:pt>
                <c:pt idx="4">
                  <c:v>3060</c:v>
                </c:pt>
                <c:pt idx="5">
                  <c:v>2910</c:v>
                </c:pt>
                <c:pt idx="6">
                  <c:v>3180</c:v>
                </c:pt>
                <c:pt idx="7">
                  <c:v>3080</c:v>
                </c:pt>
                <c:pt idx="8">
                  <c:v>3170</c:v>
                </c:pt>
                <c:pt idx="9">
                  <c:v>3090</c:v>
                </c:pt>
                <c:pt idx="10">
                  <c:v>4060</c:v>
                </c:pt>
                <c:pt idx="11">
                  <c:v>3690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B264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B2640"/>
                </a:solidFill>
                <a:latin typeface="Arial"/>
              </a:rPr>
              <a:t>Relevant Sheet 1 keywords absent from Sheet 2: avg. monthly searches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Searches/mo</c:v>
                </c:pt>
              </c:strCache>
            </c:strRef>
          </c:tx>
          <c:spPr>
            <a:solidFill>
              <a:srgbClr val="EE7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curry paste</c:v>
                  </c:pt>
                  <c:pt idx="1">
                    <c:v>chicken gravy masala packet</c:v>
                  </c:pt>
                  <c:pt idx="2">
                    <c:v>indian curry paste</c:v>
                  </c:pt>
                  <c:pt idx="3">
                    <c:v>curry paste online</c:v>
                  </c:pt>
                  <c:pt idx="4">
                    <c:v>cooking paste</c:v>
                  </c:pt>
                  <c:pt idx="5">
                    <c:v>chicken curry masala packet</c:v>
                  </c:pt>
                  <c:pt idx="6">
                    <c:v>chettinad mutton masala</c:v>
                  </c:pt>
                  <c:pt idx="7">
                    <c:v>mutton chettinad masala</c:v>
                  </c:pt>
                  <c:pt idx="8">
                    <c:v>best chicken curry masala</c:v>
                  </c:pt>
                  <c:pt idx="9">
                    <c:v>best masala for chicken curry</c:v>
                  </c:pt>
                  <c:pt idx="10">
                    <c:v>ready to cook curry</c:v>
                  </c:pt>
                  <c:pt idx="11">
                    <c:v>south indian chicken masala</c:v>
                  </c:pt>
                  <c:pt idx="12">
                    <c:v>ready to cook chicken curry</c:v>
                  </c:pt>
                  <c:pt idx="13">
                    <c:v>karaikudi chicken masala</c:v>
                  </c:pt>
                  <c:pt idx="14">
                    <c:v>ready made curry paste</c:v>
                  </c:pt>
                  <c:pt idx="15">
                    <c:v>chettinad masala chicken</c:v>
                  </c:pt>
                  <c:pt idx="16">
                    <c:v>chettinad paste</c:v>
                  </c:pt>
                  <c:pt idx="17">
                    <c:v>masala curry paste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390</c:v>
                </c:pt>
                <c:pt idx="1">
                  <c:v>260</c:v>
                </c:pt>
                <c:pt idx="2">
                  <c:v>90</c:v>
                </c:pt>
                <c:pt idx="3">
                  <c:v>90</c:v>
                </c:pt>
                <c:pt idx="4">
                  <c:v>70</c:v>
                </c:pt>
                <c:pt idx="5">
                  <c:v>70</c:v>
                </c:pt>
                <c:pt idx="6">
                  <c:v>50</c:v>
                </c:pt>
                <c:pt idx="7">
                  <c:v>50</c:v>
                </c:pt>
                <c:pt idx="8">
                  <c:v>50</c:v>
                </c:pt>
                <c:pt idx="9">
                  <c:v>50</c:v>
                </c:pt>
                <c:pt idx="10">
                  <c:v>40</c:v>
                </c:pt>
                <c:pt idx="11">
                  <c:v>40</c:v>
                </c:pt>
                <c:pt idx="12">
                  <c:v>30</c:v>
                </c:pt>
                <c:pt idx="13">
                  <c:v>30</c:v>
                </c:pt>
                <c:pt idx="14">
                  <c:v>30</c:v>
                </c:pt>
                <c:pt idx="15">
                  <c:v>20</c:v>
                </c:pt>
                <c:pt idx="16">
                  <c:v>20</c:v>
                </c:pt>
                <c:pt idx="17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B2640"/>
                </a:solidFill>
                <a:latin typeface="Arial"/>
              </a:defRPr>
            </a:pPr>
            <a:r>
              <a:rPr sz="950" b="0" i="0" u="none" strike="noStrike">
                <a:solidFill>
                  <a:srgbClr val="1B2640"/>
                </a:solidFill>
                <a:latin typeface="Arial"/>
              </a:rPr>
              <a:t>Brand keyword demand (summed searches/mo)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Searches/mo</c:v>
                </c:pt>
              </c:strCache>
            </c:strRef>
          </c:tx>
          <c:spPr>
            <a:solidFill>
              <a:srgbClr val="EE7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E76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64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264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264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264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264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B264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B264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B2640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CURRYiT (own)</c:v>
                  </c:pt>
                  <c:pt idx="1">
                    <c:v>Shan</c:v>
                  </c:pt>
                  <c:pt idx="2">
                    <c:v>Everest</c:v>
                  </c:pt>
                  <c:pt idx="3">
                    <c:v>Suhana</c:v>
                  </c:pt>
                  <c:pt idx="4">
                    <c:v>MDH</c:v>
                  </c:pt>
                  <c:pt idx="5">
                    <c:v>Aachi</c:v>
                  </c:pt>
                  <c:pt idx="6">
                    <c:v>Priya</c:v>
                  </c:pt>
                  <c:pt idx="7">
                    <c:v>Nilons</c:v>
                  </c:pt>
                  <c:pt idx="8">
                    <c:v>Sakthi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1300</c:v>
                </c:pt>
                <c:pt idx="1">
                  <c:v>5030</c:v>
                </c:pt>
                <c:pt idx="2">
                  <c:v>3160</c:v>
                </c:pt>
                <c:pt idx="3">
                  <c:v>2690</c:v>
                </c:pt>
                <c:pt idx="4">
                  <c:v>1770</c:v>
                </c:pt>
                <c:pt idx="5">
                  <c:v>1370</c:v>
                </c:pt>
                <c:pt idx="6">
                  <c:v>1050</c:v>
                </c:pt>
                <c:pt idx="7">
                  <c:v>250</c:v>
                </c:pt>
                <c:pt idx="8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ADS · KEYWORD &amp; COMPETITOR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Amazon Keyword &amp; Competitor Analysis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CURRYiT Chettinad Chicken Curry (cooking paste)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ASIN B0FV3QBKS5 · amazon.in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2,169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646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keywords (Sheet 1)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4297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48646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 keywords (Sheet 2)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4297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48646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truly core for this ASIN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first. Volume second.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80960" y="822960"/>
            <a:ext cx="4023360" cy="5303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0" descr="/tmp/kwd/deck/img/pack_chettin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143000"/>
            <a:ext cx="3383280" cy="3346371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863840" y="4709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Chettinad chicken curry paste (pack as seen on Amazon.in)</a:t>
            </a:r>
            <a:endParaRPr lang="en-US" sz="900" dirty="0"/>
          </a:p>
        </p:txBody>
      </p:sp>
      <p:pic>
        <p:nvPicPr>
          <p:cNvPr id="16" name="Image 1" descr="/tmp/kwd/deck/img/logo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52120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UNDERSTAND THE PRODUCT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understanding: what exactly are we selling?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017520" cy="4389120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5" name="Image 0" descr="/tmp/kwd/deck/img/pack_chettin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2560320" cy="253238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069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Ready-to-cook Chettinad curry paste. Add chicken, mutton or fish, cook ~15 min.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image: CURRYiT research screenshots (Amazon.in).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374904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type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11887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cooking paste (curry base), not a dry masala powder or a ready-to-eat curry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49040" y="1719072"/>
            <a:ext cx="795528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4904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Cuisine / flavour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175564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Chettinad (Tamil Nadu): pepper, fennel, star anise, curry leaves, coconut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49040" y="2286000"/>
            <a:ext cx="795528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49040" y="23225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0" y="232257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fresh chicken / mutton / meat / fish → curry in ~15 minutes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49040" y="2852928"/>
            <a:ext cx="795528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749040" y="28895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 / non-veg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0" y="288950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is made from plant ingredients + ghee; positioned for NON-VEG cooking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749040" y="3419856"/>
            <a:ext cx="795528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749040" y="34564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claims (listing)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0" y="345643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preservatives · goodness of ghee · cook in 15 mins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749040" y="3986784"/>
            <a:ext cx="795528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749040" y="4023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&amp; price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40233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g: ₹140 (MRP ₹149) · 3-pack ₹400 (MRP ₹447)*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749040" y="4553712"/>
            <a:ext cx="795528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749040" y="45902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seen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0" y="459028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4.0★ (248 ratings) on Amazon.in in CURRYiT research screenshot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749040" y="5120640"/>
            <a:ext cx="795528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749040" y="5230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searches for it: a non-veg home cook who wants authentic regional (South-Indian) taste without grinding spices. They search by DISH (chettinad chicken), by FORMAT (curry paste / non-veg paste) or by NEED (chicken gravy masala).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576072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FOR CURRYiT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keyword is only relevant if it matches Chettinad flavour, a ready paste/masala format, or a non-veg curry need. "Curry" alone is not enough.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651967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Target ASIN page could not be opened from our environment; facts from Amazon.in/curryit.in/Instamart listings via web search and CURRYiT research screenshots. Verify pack/price on the live ASIN.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THE DATASET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research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2,169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raw keywords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1 (2,178 rows). Max volume 480/mo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6432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 keywords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456432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2 "Main Kws"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91072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291072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 kws NOT in Sheet 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incl. every term above 480/mo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61120" y="11887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25712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1,39,020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125712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summed searches (Sheet 2)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125712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75,490 after removing 10 duplicate-metric groups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2788920"/>
          <a:ext cx="58521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6583680" y="2834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evaluated the refinement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315468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universe is biryani-heavy: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915 of 2,169 keywords mention biryani; Chettinad has just 16.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2 is a separate pull,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filter of Sheet 1: 66/90 terms are absent from it.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metrics: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rows had volume only; 24 were back-filled from Sheet 1, 8 remain volume-only.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groups share identical metrics (Keyword Planner close variants), so volume is counted once.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keyword scored on: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→ Product match → Purchase intent → Relevance.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576072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FOR CURRYiT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refined list mixes two datasets and double-counts variants. Its headline 1,39,020 searches shrink to 75,490 once duplicates are removed.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51967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Kwanalysis.xlsx (Google Keyword Planner export: avg. monthly searches, competition, top-of-page bid). Not Amazon search volume.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HOW WE JUDGE A KEYWORD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relevance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1887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118872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intent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1887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118872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match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1887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0" y="118872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intent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11887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1200" y="118872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828800"/>
            <a:ext cx="2103120" cy="361188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1938528"/>
            <a:ext cx="1883664" cy="384048"/>
          </a:xfrm>
          <a:prstGeom prst="roundRect">
            <a:avLst>
              <a:gd name="adj" fmla="val 11905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193852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HIGHLY RELEVANT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Chettinad / paste / non-veg curry match; buying intent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840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chettinad chicken masala, non veg curry paste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keywords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0" y="1828800"/>
            <a:ext cx="2103120" cy="361188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52928" y="1938528"/>
            <a:ext cx="1883664" cy="384048"/>
          </a:xfrm>
          <a:prstGeom prst="roundRect">
            <a:avLst>
              <a:gd name="adj" fmla="val 11905"/>
            </a:avLst>
          </a:prstGeom>
          <a:solidFill>
            <a:srgbClr val="3F5A8A"/>
          </a:solidFill>
          <a:ln w="12700">
            <a:solidFill>
              <a:srgbClr val="3F5A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52928" y="193852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RELEVANT, BROADER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cooking need, broader or powder-led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88036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880360" y="3840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 gravy masala, chicken curry masala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88036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keywords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0" y="1828800"/>
            <a:ext cx="2103120" cy="361188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38928" y="1938528"/>
            <a:ext cx="1883664" cy="384048"/>
          </a:xfrm>
          <a:prstGeom prst="roundRect">
            <a:avLst>
              <a:gd name="adj" fmla="val 11905"/>
            </a:avLst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38928" y="193852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RELATED / EXPERIMENTAL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16636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dish or flavour; intent uncertain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16636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166360" y="3840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butter chicken masala, chicken kolhapuri masala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16636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keywords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315200" y="1828800"/>
            <a:ext cx="2103120" cy="361188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24928" y="1938528"/>
            <a:ext cx="1883664" cy="384048"/>
          </a:xfrm>
          <a:prstGeom prst="roundRect">
            <a:avLst>
              <a:gd name="adj" fmla="val 11905"/>
            </a:avLst>
          </a:prstGeom>
          <a:solidFill>
            <a:srgbClr val="B0B4BC"/>
          </a:solidFill>
          <a:ln w="12700">
            <a:solidFill>
              <a:srgbClr val="B0B4B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424928" y="193852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LOW RELEVANCE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745236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 words, wrong cuisine / dish / format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45236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452360" y="3840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curry paste, korma masala, chicken tikka gravy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45236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keywords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601200" y="1828800"/>
            <a:ext cx="2103120" cy="361188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10928" y="1938528"/>
            <a:ext cx="1883664" cy="384048"/>
          </a:xfrm>
          <a:prstGeom prst="roundRect">
            <a:avLst>
              <a:gd name="adj" fmla="val 11905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710928" y="193852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IRRELEVANT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973836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realistic purchase intent for this ASIN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973836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9738360" y="38404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 tikka masala dish, tye green curry, red curry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973836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keywords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40080" y="576072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FOR CURRYiT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"Green curry" and "chettinad masala" both contain curry words. Only one of them can sell a Chettinad paste.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51967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Kwanalysis.xlsx (Google Keyword Planner export: avg. monthly searches, competition, top-of-page bid). Not Amazon search volume.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QUALITY OF SHEET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 keyword analysis: how good is the list?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18872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576072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FOR CURRYiT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14 of 90 keywords (6% of de-duplicated volume) are core. 63% of volume sits in low-relevance or irrelevant terms.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1967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Kwanalysis.xlsx (Google Keyword Planner export: avg. monthly searches, competition, top-of-page bid). Not Amazon search volume.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· SEARCH-INTENT CLUSTERS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shoppers actually searching for?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7548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188720"/>
          <a:ext cx="6336792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457200"/>
                <a:gridCol w="868680"/>
                <a:gridCol w="868680"/>
                <a:gridCol w="1033272"/>
                <a:gridCol w="1051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Kws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Searches/mo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comp. index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Butter chicken / tikka / tandoori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38,930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 dish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7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/ EXCLUDE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Thai curries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cuisine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7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 / TEST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regional chicken masalas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Adjacent flavour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7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curry / gravy masala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need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(phrase)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 intent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cuisine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Korma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 dish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dishes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products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EXCLUDE / ROUTE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Curry paste / non-veg paste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 match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576072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FOR CURRYiT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clusters (tikka/butter chicken, Thai) are the least relevant. The winning clusters are small but precise: Chettinad, paste format, chicken gravy need.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1967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Kwanalysis.xlsx (Google Keyword Planner export: avg. monthly searches, competition, top-of-page bid). Not Amazon search volume.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· WHAT TO BID ON FIRST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High-priority keywords (Priority 1: Core)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74980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777240"/>
                <a:gridCol w="960120"/>
                <a:gridCol w="1188720"/>
                <a:gridCol w="914400"/>
                <a:gridCol w="1874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Searches/mo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Comp. (index)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Top-of-page bid (low–high)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3-mo / YoY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priority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 masala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(62)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1.46–6.29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 / 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cuisine, top Chettinad volume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chettinad gravy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+30% / 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Dish + gravy = our end result; Low competition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 chicken masala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(45)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1.34–21.72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+49% / +49%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match; +49% 3-mo &amp; YoY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veg curry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(15)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1.06–12.07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 / +55%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 + use; Low comp, +55% YoY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curry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(100)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0.47–17.74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+27% / +27%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 + protein; High comp.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veg masala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(28)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 / +40%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 + use; Low comp.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veg curry masala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(11)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1.13–5.95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-44% / -29%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 + use; cheap bids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 masala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(12)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+100% / +100%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cuisine + format; +100% 3-mo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 masala online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(100)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1.24–12.5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+50% / +200%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 online-purchase intent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curryit (own brand)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defence: own the SERP for our name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8138160" y="1188720"/>
          <a:ext cx="3593592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138160" y="438912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2025 → Aug 2026: 2,900 → 3,690 searches/mo (+27%), peak 4,060 in Jul 2026.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576072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FOR CURRYiT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demand is small (~3–4k/mo) but growing and cheap to bid on. Win these exact terms before paying for broad volume.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1967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Kwanalysis.xlsx Sheet 2 (metrics back-filled from Sheet 1 where Sheet 2 had volume only). Bids as exported (Keyword Planner account currency). Not Amazon data.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· GAPS IN THE REFINEMENT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opportunities missed in refinement (from Sheet 1)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1206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188720"/>
          <a:ext cx="597103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57200"/>
                <a:gridCol w="822960"/>
                <a:gridCol w="914400"/>
                <a:gridCol w="2084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3-mo / YoY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add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 mutton masala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(11)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 / 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 + mutton — pack says "just add mutton"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karaikudi chicken masala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+150% / +150%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Karaikudi = Chettinad heartland; +150% 3-month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(32)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 / 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cuisine + format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 masala chicken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(16)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+200% / +50%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cuisine + protein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to cook chicken curry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(100)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+33% / +33%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format + protein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indian curry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(64)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+767% / +767%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Indian paste format; +767% 3-month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curry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(74)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 / +22%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head term: exact format match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gravy masala packet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(35)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 / +129%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Pack-purchase intent for chicken gravy base; +129% YoY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576072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FOR CURRYiT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very specific terms (Chettinad mutton, Karaikudi, ready-to-cook chicken curry) were left out while Thai and tikka terms made the cut. Add them to the core set.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1967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Kwanalysis.xlsx (Google Keyword Planner export: avg. monthly searches, competition, top-of-page bid). Not Amazon search volume.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 · WORTH A CONTROLLED TEST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to test: expansion &amp; experimental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532120" cy="4389120"/>
          </a:xfrm>
          <a:prstGeom prst="roundRect">
            <a:avLst>
              <a:gd name="adj" fmla="val 1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2926080" cy="310896"/>
          </a:xfrm>
          <a:prstGeom prst="roundRect">
            <a:avLst>
              <a:gd name="adj" fmla="val 14706"/>
            </a:avLst>
          </a:prstGeom>
          <a:solidFill>
            <a:srgbClr val="3F5A8A"/>
          </a:solidFill>
          <a:ln w="12700">
            <a:solidFill>
              <a:srgbClr val="3F5A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 · EXPANSION (B)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cooking need, broader. Phrase match, moderate bids, watch ACoS.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5166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97280"/>
                <a:gridCol w="1234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Searches/mo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gravy masala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(63)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gravy chicken masala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(63)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curry masala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(47)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kari masala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(47)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veg paste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(3)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 chicken gravy tamil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curry with curry paste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(100)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curry curry paste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gravy indian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(1)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curry masala packet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(42)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masala chicken gravy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(1)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199632" y="1188720"/>
            <a:ext cx="5532120" cy="4389120"/>
          </a:xfrm>
          <a:prstGeom prst="roundRect">
            <a:avLst>
              <a:gd name="adj" fmla="val 1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82512" y="1325880"/>
            <a:ext cx="2926080" cy="310896"/>
          </a:xfrm>
          <a:prstGeom prst="roundRect">
            <a:avLst>
              <a:gd name="adj" fmla="val 14706"/>
            </a:avLst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82512" y="13258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3 · EXPERIMENTAL (C)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382512" y="17190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flavours &amp; competitor brands. Small budget, harvest winners only.</a:t>
            </a:r>
            <a:endParaRPr lang="en-US" sz="1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2148840"/>
          <a:ext cx="5166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97280"/>
                <a:gridCol w="1234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Searches/mo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tikka curry masala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(39)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mdh chicken masala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(69)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curry tikka masala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(47)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murgh masala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(1)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suhana chicken gravy masala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(90)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kala masala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(25)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kala masala chicken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(25)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masala kari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(46)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hyderabadi masala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(3)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kolhapuri masala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(29)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malvani masala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(49)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0080" y="576072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FOR CURRYiT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"Chicken gravy masala" is the biggest relevant-need pool (2,400/mo): shoppers expect a powder, so the ad must sell the paste advantage (no grinding, 15 min).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51967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Kwanalysis.xlsx (Google Keyword Planner export: avg. monthly searches, competition, top-of-page bid). Not Amazon search volume.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 · WHERE MONEY LEAKS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to exclude, and why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691640"/>
                <a:gridCol w="237744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looks relevant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it's actually weak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tikka curry (22,200)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+ curry; huge volume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Dish name; different dish; recipe/restaurant intent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Exclude / negative (Chettinad)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tikka masala dish (22,200)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metrics as above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variant group; "dish" = informational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tye green curry (5,400)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"Curry" + high volume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Misspelt Thai green curry; wrong cuisine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butter chicken masala (5,400)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masala purchase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 dish, but CURRYiT sells Dhaba Butter Masala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to Butter Masala campaign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curry / green curry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"Curry" in keyword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Thai dishes; no Chettinad or Indian-curry intent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(phrase)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/ green / massaman curry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Paste format matches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Thai flavour; buyer will not accept Chettinad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(phrase)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korma masala / chicken korma masala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masala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Mild cream/nut curry; opposite of peppery Chettinad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rogan josh curry pasta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CURRYiT makes Rogan Josh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Wrong ASIN for this campaign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to Rogan Josh campaign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butter chicken and tikka masala (×6)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+ masala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 queries; informational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188720"/>
            <a:ext cx="3182112" cy="4389120"/>
          </a:xfrm>
          <a:prstGeom prst="roundRect">
            <a:avLst>
              <a:gd name="adj" fmla="val 2299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32520" y="1325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PHRASE LIST (Chettinad campaigns)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32520" y="182880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3252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195560" y="182880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19556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curry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732520" y="221284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32520" y="2212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curry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0195560" y="221284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195560" y="2212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curry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732520" y="2596896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32520" y="25968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massaman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0195560" y="2596896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195560" y="25968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panang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732520" y="2980944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32520" y="2980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korma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0195560" y="2980944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195560" y="2980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tikka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732520" y="3364992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732520" y="33649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tandoori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195560" y="3364992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195560" y="33649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butter chicken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732520" y="37490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32520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mushroom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0195560" y="374904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195560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biryani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732520" y="413308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732520" y="4133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dish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0195560" y="413308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195560" y="4133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8732520" y="4617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as negatives to Chettinad/paste campaigns only. Butter-chicken terms go to the Butter Masala ASIN, not to waste.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0080" y="576072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FOR CURRYiT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47,370 of 75,490 de-duplicated monthly searches (63%) should not reach the Chettinad ASIN. High volume ≠ high relevance.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651967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Kwanalysis.xlsx (Google Keyword Planner export: avg. monthly searches, competition, top-of-page bid). Not Amazon search volume.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 · WHO WE COMPETE WITH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landscape: by shopper intent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Chettinad pastes: same dish, same format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86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CurryChief Chettinad Curry Paste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090672"/>
            <a:ext cx="324612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54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The Cook Madras Chettinad Curry Paste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959352"/>
            <a:ext cx="324612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023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 Tree Ready-to-Cook Chettinad Masala Paste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828032"/>
            <a:ext cx="324612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18872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1325880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3F5A8A"/>
          </a:solidFill>
          <a:ln w="12700">
            <a:solidFill>
              <a:srgbClr val="3F5A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34840" y="13258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Non-veg / chicken curry pastes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2286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Non Veg Curry Masala Paste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3090672"/>
            <a:ext cx="324612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34840" y="3154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Nilons Non Veg Curry Paste (keyword data only)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3959352"/>
            <a:ext cx="324612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34840" y="4023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ITC Master Chef / Kitchens of India pastes &amp; masalas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4828032"/>
            <a:ext cx="324612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118872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325880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13258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dinner, different format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2286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Sakthi Chettinad Chicken Masala (powder)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3090672"/>
            <a:ext cx="324612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0" y="31546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MDH · Suhana · Everest chicken masalas (powder)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3959352"/>
            <a:ext cx="324612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0" y="4023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Cheffin by Tasty Bite ready-to-cook kits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4828032"/>
            <a:ext cx="324612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576072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FOR CURRYiT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Chettinad-paste rivals are few and small. The real fight is against cheap powder masalas (₹28–37 per 50 g) that own the "chicken masala" searches.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967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research: Amazon.in / BigBasket / Flipkart / Instamart listings found via web search. Listing pages could not be opened directly. Not part of the Excel data.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11 · SIDE-BY-SIDE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comparison (verified where possible)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822960"/>
                <a:gridCol w="1417320"/>
                <a:gridCol w="1188720"/>
                <a:gridCol w="2103120"/>
                <a:gridCol w="1234440"/>
                <a:gridCol w="1490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 size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claim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Cuisine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Amazon.in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CURRYiT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 Chicken Curry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Wet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₹140 (MRP ₹149)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preservatives · ghee · 15 min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CurryChief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 Curry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Wet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2-pack, 275 g total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10-min cook · zero preservatives · veg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(B0B2JDXQQW)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The Cook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Madras Chettinad Curry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Wet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g ×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· no preservatives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(B0C3KVF2CW)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Curry Tree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RTC Chettinad Masala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Wet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BigBasket; Amazon not verified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Veg Curry Masala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Wet paste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₹115 (MRP ₹124)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× 90 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Non-veg curry base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Andhra/generic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(B0728CGQCW)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Sakthi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 Chicken Masala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₹144 (4 × 50 g)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 spice blend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ITC Master Chef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 Chicken Masala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Flipkart; Amazon not verified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Cheffin (Tasty Bite)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Ready-to-cook meal kits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₹131–₹699 range reported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3-step complete curry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North-Indian (no Chettinad found)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Amazon-exclusive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per 100 g (where verified): CURRYiT ~₹117 · Priya ~₹32 · Sakthi ~₹72. CURRYiT is the premium option and must justify it on taste, format and "no preservatives".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576072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FOR CURRYiT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price CURRYiT loses to every powder. On Chettinad + ready paste + clean label it has only two small direct rivals. Lead ads with that combination.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1967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research via web search (listing titles/snippets); prices change daily. "Not verified" = could not be confirmed. CURRYiT rating/price also seen in CURRYiT research screenshots.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12 · WHERE WE COLLIDE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&amp; competitor overlap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51560"/>
                <a:gridCol w="1234440"/>
                <a:gridCol w="914400"/>
                <a:gridCol w="1097280"/>
                <a:gridCol w="822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 cluster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CURRYiT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CurryChief / EL The Cook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/ Nilons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Sakthi / MDH / Suhana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Cheffin kits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Chettinad intent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(Sakthi Chettinad)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Curry paste / non-veg paste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Chicken curry / gravy masala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Butter chicken / tikka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(other ASIN)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Thai curries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E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703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/ Partial / — = fit with each cluster, judged from product type &amp; cuisine (not ranking data)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589520" y="1188720"/>
          <a:ext cx="4142232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069080"/>
            <a:ext cx="6949440" cy="1508760"/>
          </a:xfrm>
          <a:prstGeom prst="roundRect">
            <a:avLst>
              <a:gd name="adj" fmla="val 48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4160520"/>
            <a:ext cx="6629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brand: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"curryit" 1,300/mo: always-on exact-match defence.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brand: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only where format matches (Priya / Nilons non-veg paste, Sakthi Chettinad). Expect lower CTR; cap bids.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of the plan: Chettinad + paste + chicken-gravy need.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576072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FOR CURRYiT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competes head-on only in Chettinad and paste searches. Chicken-masala searches belong to powder brands: a conquest play, not a core one.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51967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volumes: CURRYiT from Sheet 2; others summed from Sheet 1 (Keyword Planner). Fit marks are analyst judgement, not ranking data.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13 · FROM KEYWORDS TO CAMPAIGNS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Sponsored Products campaign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1261872"/>
          </a:xfrm>
          <a:prstGeom prst="roundRect">
            <a:avLst>
              <a:gd name="adj" fmla="val 579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98448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EXACT · CORE CHETTINAD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1298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bids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459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chettinad masala · chicken chettinad gravy · chettinad chicken masala · chettinad masala paste · chettinad paste · karaikudi chicken masala · chettinad mutton masala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5486400" cy="1261872"/>
          </a:xfrm>
          <a:prstGeom prst="roundRect">
            <a:avLst>
              <a:gd name="adj" fmla="val 579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298448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· EXACT · PASTE FORMAT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195560" y="1298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bids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6459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 curry paste · non veg curry paste · non veg masala paste · non veg curry masala paste · ready to cook chicken curry · indian curry paste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486400" cy="1261872"/>
          </a:xfrm>
          <a:prstGeom prst="roundRect">
            <a:avLst>
              <a:gd name="adj" fmla="val 579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670048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3F5A8A"/>
          </a:solidFill>
          <a:ln w="12700">
            <a:solidFill>
              <a:srgbClr val="3F5A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PHRASE · CHICKEN GRAVY EXPANSION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670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bids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0175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 gravy masala · chicken curry masala · chicken kari masala · curry paste · non veg paste · chicken gravy masala packet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2560320"/>
            <a:ext cx="5486400" cy="1261872"/>
          </a:xfrm>
          <a:prstGeom prst="roundRect">
            <a:avLst>
              <a:gd name="adj" fmla="val 579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2670048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3F5A8A"/>
          </a:solidFill>
          <a:ln w="12700">
            <a:solidFill>
              <a:srgbClr val="3F5A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· EXACT · BRAND DEFENCE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95560" y="2670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0175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(+ curry it, curryit chettinad as they appear in search-term reports)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5486400" cy="1261872"/>
          </a:xfrm>
          <a:prstGeom prst="roundRect">
            <a:avLst>
              <a:gd name="adj" fmla="val 579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041648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 · PRODUCT TARGETING · COMPETITOR TEST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041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Capped test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43891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ASINs: CurryChief Chettinad, EL The Cook Madras Chettinad, Priya Non Veg Paste, Sakthi Chettinad Masala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3931920"/>
            <a:ext cx="5486400" cy="1261872"/>
          </a:xfrm>
          <a:prstGeom prst="roundRect">
            <a:avLst>
              <a:gd name="adj" fmla="val 579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4041648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 · AUTO / BROAD · DISCOVERY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95560" y="4041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bids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43891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Low-bid auto campaign; harvest converting search terms into C1–C3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3492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Negatives (C1–C3): </a:t>
            </a:r>
            <a:pPr indent="0" marL="0"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thai, green/red/yellow curry, massaman, korma, tikka, tandoori, butter chicken, mushroom, biryani, dish, recipe.   </a:t>
            </a:r>
            <a:pPr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Route: </a:t>
            </a:r>
            <a:pPr indent="0" marL="0"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butter-chicken terms → Dhaba Butter Masala ASIN; rogan josh → Rogan Josh ASIN.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580644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5806440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FOR CURRYiT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follows relevance: exact Chettinad and paste terms get the budget; broad and competitor terms must earn it through search-term reports.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1967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Kwanalysis.xlsx (Google Keyword Planner export: avg. monthly searches, competition, top-of-page bid). Not Amazon search volume.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66928" cy="566928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42646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34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5361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Sheet 2 terms + 6 missed Sheet 1 terms: Chettinad, paste format, curryit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1280160"/>
            <a:ext cx="566928" cy="566928"/>
          </a:xfrm>
          <a:prstGeom prst="ellipse">
            <a:avLst/>
          </a:prstGeom>
          <a:solidFill>
            <a:srgbClr val="3F5A8A"/>
          </a:solidFill>
          <a:ln w="12700">
            <a:solidFill>
              <a:srgbClr val="3F5A8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42646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0" y="1234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858000" y="15361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 gravy / curry masala, curry paste, non veg paste (phrase)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514600"/>
            <a:ext cx="566928" cy="566928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66090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2468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277063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chicken masalas, competitor brands with matching format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26480" y="2514600"/>
            <a:ext cx="566928" cy="56692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266090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58000" y="2468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858000" y="277063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 curries, korma, tikka/tandoori dishes, "dish", comparisons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749040"/>
            <a:ext cx="566928" cy="566928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89534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3703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TARGETING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1188720" y="40050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CurryChief, EL The Cook, Priya, Sakthi ASINs with capped bids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126480" y="3749040"/>
            <a:ext cx="566928" cy="566928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895344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58000" y="3703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GAPS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6858000" y="40050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chettinad mutton, karaikudi, ready to cook chicken curry, indian curry paste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57200" y="493776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caveats: keyword metrics are Google Keyword Planner estimates, not Amazon search volume or conversion data. Validate with Amazon Brand Analytics / search-term reports after 2–4 weeks and re-rank on actual ACoS &amp; conversion.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640080" y="576072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FOR CURRYiT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chase 22,200-search tikka terms. Own the ~4k monthly Chettinad and paste searches first, then expand into chicken-gravy needs as data proves profitable.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651967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Kwanalysis.xlsx (Google Keyword Planner export: avg. monthly searches, competition, top-of-page bid). Not Amazon search volume.</a:t>
            </a:r>
            <a:endParaRPr lang="en-US" sz="800" dirty="0"/>
          </a:p>
        </p:txBody>
      </p:sp>
      <p:sp>
        <p:nvSpPr>
          <p:cNvPr id="33" name="Text 25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CURRYiT Amazon Keyword &amp; Competitor Analysis</dc:title>
  <dc:subject>PptxGenJS Presentation</dc:subject>
  <dc:creator>PptxGenJS</dc:creator>
  <cp:lastModifiedBy>PptxGenJS</cp:lastModifiedBy>
  <cp:revision>1</cp:revision>
  <dcterms:created xsi:type="dcterms:W3CDTF">2026-09-29T15:42:31Z</dcterms:created>
  <dcterms:modified xsi:type="dcterms:W3CDTF">2026-09-29T15:42:31Z</dcterms:modified>
</cp:coreProperties>
</file>